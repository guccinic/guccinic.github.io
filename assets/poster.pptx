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2918400" cy="21945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2918400" cy="219456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6" name="Rectangle 305"/>
          <p:cNvSpPr/>
          <p:nvPr/>
        </p:nvSpPr>
        <p:spPr>
          <a:xfrm>
            <a:off x="22018752" y="18553398"/>
            <a:ext cx="9985248" cy="1971896"/>
          </a:xfrm>
          <a:prstGeom prst="rect">
            <a:avLst/>
          </a:prstGeom>
          <a:solidFill>
            <a:srgbClr val="162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0" name="Rectangle 299"/>
          <p:cNvSpPr/>
          <p:nvPr/>
        </p:nvSpPr>
        <p:spPr>
          <a:xfrm>
            <a:off x="22018752" y="13966011"/>
            <a:ext cx="9985248" cy="4276491"/>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1" name="Rectangle 300"/>
          <p:cNvSpPr/>
          <p:nvPr/>
        </p:nvSpPr>
        <p:spPr>
          <a:xfrm>
            <a:off x="22018752" y="13966011"/>
            <a:ext cx="77724" cy="4276491"/>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8" name="Rectangle 297"/>
          <p:cNvSpPr/>
          <p:nvPr/>
        </p:nvSpPr>
        <p:spPr>
          <a:xfrm>
            <a:off x="22384511" y="16686613"/>
            <a:ext cx="54864" cy="786383"/>
          </a:xfrm>
          <a:prstGeom prst="rect">
            <a:avLst/>
          </a:prstGeom>
          <a:solidFill>
            <a:srgbClr val="4C55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7" name="Rectangle 296"/>
          <p:cNvSpPr/>
          <p:nvPr/>
        </p:nvSpPr>
        <p:spPr>
          <a:xfrm>
            <a:off x="22384511" y="16686613"/>
            <a:ext cx="9253728" cy="786383"/>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2" name="Rectangle 291"/>
          <p:cNvSpPr/>
          <p:nvPr/>
        </p:nvSpPr>
        <p:spPr>
          <a:xfrm>
            <a:off x="22384511" y="15827077"/>
            <a:ext cx="54864" cy="786383"/>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1" name="Rectangle 290"/>
          <p:cNvSpPr/>
          <p:nvPr/>
        </p:nvSpPr>
        <p:spPr>
          <a:xfrm>
            <a:off x="22384511" y="15827077"/>
            <a:ext cx="9253728" cy="786383"/>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6" name="Rectangle 285"/>
          <p:cNvSpPr/>
          <p:nvPr/>
        </p:nvSpPr>
        <p:spPr>
          <a:xfrm>
            <a:off x="22384511" y="14883305"/>
            <a:ext cx="54864" cy="870619"/>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5" name="Rectangle 284"/>
          <p:cNvSpPr/>
          <p:nvPr/>
        </p:nvSpPr>
        <p:spPr>
          <a:xfrm>
            <a:off x="22384511" y="14883305"/>
            <a:ext cx="9253728" cy="870619"/>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7" name="Rectangle 276"/>
          <p:cNvSpPr/>
          <p:nvPr/>
        </p:nvSpPr>
        <p:spPr>
          <a:xfrm>
            <a:off x="22018752" y="10386438"/>
            <a:ext cx="9985248" cy="3268676"/>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8" name="Rectangle 277"/>
          <p:cNvSpPr/>
          <p:nvPr/>
        </p:nvSpPr>
        <p:spPr>
          <a:xfrm>
            <a:off x="22018752" y="10386438"/>
            <a:ext cx="77724" cy="3268676"/>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5" name="Rectangle 274"/>
          <p:cNvSpPr/>
          <p:nvPr/>
        </p:nvSpPr>
        <p:spPr>
          <a:xfrm>
            <a:off x="22384511" y="12201268"/>
            <a:ext cx="54864" cy="834978"/>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4" name="Rectangle 273"/>
          <p:cNvSpPr/>
          <p:nvPr/>
        </p:nvSpPr>
        <p:spPr>
          <a:xfrm>
            <a:off x="22384511" y="12201268"/>
            <a:ext cx="9253728" cy="834978"/>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1" name="Rectangle 270"/>
          <p:cNvSpPr/>
          <p:nvPr/>
        </p:nvSpPr>
        <p:spPr>
          <a:xfrm>
            <a:off x="22384511" y="11163284"/>
            <a:ext cx="54864" cy="1019695"/>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0" name="Rectangle 269"/>
          <p:cNvSpPr/>
          <p:nvPr/>
        </p:nvSpPr>
        <p:spPr>
          <a:xfrm>
            <a:off x="22384511" y="11163284"/>
            <a:ext cx="9253728" cy="1019695"/>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4" name="Rectangle 263"/>
          <p:cNvSpPr/>
          <p:nvPr/>
        </p:nvSpPr>
        <p:spPr>
          <a:xfrm>
            <a:off x="22018752" y="4617720"/>
            <a:ext cx="9985248" cy="5457822"/>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5" name="Rectangle 264"/>
          <p:cNvSpPr/>
          <p:nvPr/>
        </p:nvSpPr>
        <p:spPr>
          <a:xfrm>
            <a:off x="22018752" y="4617720"/>
            <a:ext cx="77724" cy="545782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3" name="Rectangle 262"/>
          <p:cNvSpPr/>
          <p:nvPr/>
        </p:nvSpPr>
        <p:spPr>
          <a:xfrm>
            <a:off x="22384511" y="8972752"/>
            <a:ext cx="54864" cy="846758"/>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2" name="Rectangle 261"/>
          <p:cNvSpPr/>
          <p:nvPr/>
        </p:nvSpPr>
        <p:spPr>
          <a:xfrm>
            <a:off x="22384511" y="8972752"/>
            <a:ext cx="9253728" cy="846758"/>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 name="Rectangle 204"/>
          <p:cNvSpPr/>
          <p:nvPr/>
        </p:nvSpPr>
        <p:spPr>
          <a:xfrm>
            <a:off x="11466576" y="14725460"/>
            <a:ext cx="9985248" cy="5667087"/>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 name="Rectangle 205"/>
          <p:cNvSpPr/>
          <p:nvPr/>
        </p:nvSpPr>
        <p:spPr>
          <a:xfrm>
            <a:off x="11466576" y="14725460"/>
            <a:ext cx="77724" cy="5667087"/>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Rectangle 134"/>
          <p:cNvSpPr/>
          <p:nvPr/>
        </p:nvSpPr>
        <p:spPr>
          <a:xfrm>
            <a:off x="11466576" y="10514730"/>
            <a:ext cx="9985248" cy="3899833"/>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Rectangle 135"/>
          <p:cNvSpPr/>
          <p:nvPr/>
        </p:nvSpPr>
        <p:spPr>
          <a:xfrm>
            <a:off x="11466576" y="10514730"/>
            <a:ext cx="77724" cy="3899833"/>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Rectangle 133"/>
          <p:cNvSpPr/>
          <p:nvPr/>
        </p:nvSpPr>
        <p:spPr>
          <a:xfrm>
            <a:off x="11832336" y="13323213"/>
            <a:ext cx="54864" cy="817031"/>
          </a:xfrm>
          <a:prstGeom prst="rect">
            <a:avLst/>
          </a:prstGeom>
          <a:solidFill>
            <a:srgbClr val="A53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Rectangle 132"/>
          <p:cNvSpPr/>
          <p:nvPr/>
        </p:nvSpPr>
        <p:spPr>
          <a:xfrm>
            <a:off x="11832336" y="13323213"/>
            <a:ext cx="9253728" cy="817031"/>
          </a:xfrm>
          <a:prstGeom prst="rect">
            <a:avLst/>
          </a:prstGeom>
          <a:solidFill>
            <a:srgbClr val="F8E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Rectangle 121"/>
          <p:cNvSpPr/>
          <p:nvPr/>
        </p:nvSpPr>
        <p:spPr>
          <a:xfrm>
            <a:off x="11466576" y="4617720"/>
            <a:ext cx="9985248" cy="5586114"/>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Rectangle 122"/>
          <p:cNvSpPr/>
          <p:nvPr/>
        </p:nvSpPr>
        <p:spPr>
          <a:xfrm>
            <a:off x="11466576" y="4617720"/>
            <a:ext cx="77724" cy="558611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14400" y="17410104"/>
            <a:ext cx="9985248" cy="3030597"/>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14400" y="17410104"/>
            <a:ext cx="77724" cy="3030597"/>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14400" y="11959656"/>
            <a:ext cx="9985248" cy="5139552"/>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14400" y="11959656"/>
            <a:ext cx="77724" cy="51395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914400" y="8201494"/>
            <a:ext cx="9985248" cy="3447265"/>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14400" y="8201494"/>
            <a:ext cx="77724" cy="3447265"/>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280160" y="9999537"/>
            <a:ext cx="54864" cy="1374902"/>
          </a:xfrm>
          <a:prstGeom prst="rect">
            <a:avLst/>
          </a:prstGeom>
          <a:solidFill>
            <a:srgbClr val="8E6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280160" y="9999537"/>
            <a:ext cx="9253728" cy="1374902"/>
          </a:xfrm>
          <a:prstGeom prst="rect">
            <a:avLst/>
          </a:prstGeom>
          <a:solidFill>
            <a:srgbClr val="FBF2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617720"/>
            <a:ext cx="9985248" cy="3272878"/>
          </a:xfrm>
          <a:prstGeom prst="rect">
            <a:avLst/>
          </a:prstGeom>
          <a:solidFill>
            <a:srgbClr val="F8E8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14400" y="4617720"/>
            <a:ext cx="77724" cy="3272878"/>
          </a:xfrm>
          <a:prstGeom prst="rect">
            <a:avLst/>
          </a:prstGeom>
          <a:solidFill>
            <a:srgbClr val="A53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918400" cy="4206240"/>
          </a:xfrm>
          <a:prstGeom prst="rect">
            <a:avLst/>
          </a:prstGeom>
          <a:solidFill>
            <a:srgbClr val="162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206240"/>
            <a:ext cx="32918400" cy="109728"/>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14400" y="347472"/>
            <a:ext cx="27432000" cy="283111"/>
          </a:xfrm>
          <a:prstGeom prst="rect">
            <a:avLst/>
          </a:prstGeom>
          <a:noFill/>
        </p:spPr>
        <p:txBody>
          <a:bodyPr wrap="square" lIns="0" rIns="0" tIns="0" bIns="0">
            <a:spAutoFit/>
          </a:bodyPr>
          <a:lstStyle/>
          <a:p>
            <a:pPr algn="l">
              <a:lnSpc>
                <a:spcPct val="106000"/>
              </a:lnSpc>
              <a:spcAft>
                <a:spcPts val="0"/>
              </a:spcAft>
            </a:pPr>
            <a:r>
              <a:rPr sz="1600" b="1" i="0">
                <a:solidFill>
                  <a:srgbClr val="9AAEE0"/>
                </a:solidFill>
                <a:latin typeface="Verdana"/>
              </a:rPr>
              <a:t>THIA 2026  ·  HEALTH INFORMATICS  ·  STRUCTURED POLICY–EVIDENCE REVIEW, JANUARY 2025 – AUGUST 2026</a:t>
            </a:r>
          </a:p>
        </p:txBody>
      </p:sp>
      <p:sp>
        <p:nvSpPr>
          <p:cNvPr id="6" name="TextBox 5"/>
          <p:cNvSpPr txBox="1"/>
          <p:nvPr/>
        </p:nvSpPr>
        <p:spPr>
          <a:xfrm>
            <a:off x="914400" y="804672"/>
            <a:ext cx="22311360" cy="1570466"/>
          </a:xfrm>
          <a:prstGeom prst="rect">
            <a:avLst/>
          </a:prstGeom>
          <a:noFill/>
        </p:spPr>
        <p:txBody>
          <a:bodyPr wrap="square" lIns="0" rIns="0" tIns="0" bIns="0">
            <a:spAutoFit/>
          </a:bodyPr>
          <a:lstStyle/>
          <a:p>
            <a:pPr algn="l">
              <a:lnSpc>
                <a:spcPct val="98000"/>
              </a:lnSpc>
              <a:spcAft>
                <a:spcPts val="0"/>
              </a:spcAft>
            </a:pPr>
            <a:r>
              <a:rPr sz="4800" b="1" i="0">
                <a:solidFill>
                  <a:srgbClr val="FFFFFF"/>
                </a:solidFill>
                <a:latin typeface="Verdana"/>
              </a:rPr>
              <a:t>From Data to Accountability: Preparing Health Informatics for the AI Governance Era</a:t>
            </a:r>
          </a:p>
        </p:txBody>
      </p:sp>
      <p:sp>
        <p:nvSpPr>
          <p:cNvPr id="7" name="Rectangle 6"/>
          <p:cNvSpPr/>
          <p:nvPr/>
        </p:nvSpPr>
        <p:spPr>
          <a:xfrm>
            <a:off x="914400" y="2450592"/>
            <a:ext cx="2743200" cy="41148"/>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2670048"/>
            <a:ext cx="22311360" cy="799255"/>
          </a:xfrm>
          <a:prstGeom prst="rect">
            <a:avLst/>
          </a:prstGeom>
          <a:noFill/>
        </p:spPr>
        <p:txBody>
          <a:bodyPr wrap="square" lIns="0" rIns="0" tIns="0" bIns="0">
            <a:spAutoFit/>
          </a:bodyPr>
          <a:lstStyle/>
          <a:p>
            <a:pPr algn="l">
              <a:lnSpc>
                <a:spcPct val="114000"/>
              </a:lnSpc>
              <a:spcAft>
                <a:spcPts val="0"/>
              </a:spcAft>
            </a:pPr>
            <a:r>
              <a:rPr sz="2100" b="1" i="0">
                <a:solidFill>
                  <a:srgbClr val="FFFFFF"/>
                </a:solidFill>
                <a:latin typeface="Verdana"/>
              </a:rPr>
              <a:t>Capture Once, Govern Many  —  </a:t>
            </a:r>
            <a:r>
              <a:rPr sz="1900" b="0" i="0">
                <a:solidFill>
                  <a:srgbClr val="C6D3EC"/>
                </a:solidFill>
                <a:latin typeface="Verdana"/>
              </a:rPr>
              <a:t>hospitals must follow one security law, and it says nothing about whether their AI works. This poster shows what that leaves uncovered, and proposes one shared record that lets every safety framework be answered at once.</a:t>
            </a:r>
          </a:p>
        </p:txBody>
      </p:sp>
      <p:sp>
        <p:nvSpPr>
          <p:cNvPr id="9" name="Rectangle 8"/>
          <p:cNvSpPr/>
          <p:nvPr/>
        </p:nvSpPr>
        <p:spPr>
          <a:xfrm>
            <a:off x="23637239" y="804672"/>
            <a:ext cx="27432" cy="269748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140160" y="822960"/>
            <a:ext cx="4846320" cy="371583"/>
          </a:xfrm>
          <a:prstGeom prst="rect">
            <a:avLst/>
          </a:prstGeom>
          <a:noFill/>
        </p:spPr>
        <p:txBody>
          <a:bodyPr wrap="square" lIns="0" rIns="0" tIns="0" bIns="0">
            <a:spAutoFit/>
          </a:bodyPr>
          <a:lstStyle/>
          <a:p>
            <a:pPr algn="l">
              <a:lnSpc>
                <a:spcPct val="106000"/>
              </a:lnSpc>
              <a:spcAft>
                <a:spcPts val="0"/>
              </a:spcAft>
            </a:pPr>
            <a:r>
              <a:rPr sz="2100" b="1" i="0">
                <a:solidFill>
                  <a:srgbClr val="FFFFFF"/>
                </a:solidFill>
                <a:latin typeface="Verdana"/>
              </a:rPr>
              <a:t>Nicole Cevallos</a:t>
            </a:r>
          </a:p>
        </p:txBody>
      </p:sp>
      <p:sp>
        <p:nvSpPr>
          <p:cNvPr id="11" name="TextBox 10"/>
          <p:cNvSpPr txBox="1"/>
          <p:nvPr/>
        </p:nvSpPr>
        <p:spPr>
          <a:xfrm>
            <a:off x="24140160" y="1231119"/>
            <a:ext cx="4846320" cy="256569"/>
          </a:xfrm>
          <a:prstGeom prst="rect">
            <a:avLst/>
          </a:prstGeom>
          <a:noFill/>
        </p:spPr>
        <p:txBody>
          <a:bodyPr wrap="square" lIns="0" rIns="0" tIns="0" bIns="0">
            <a:spAutoFit/>
          </a:bodyPr>
          <a:lstStyle/>
          <a:p>
            <a:pPr algn="l">
              <a:lnSpc>
                <a:spcPct val="106000"/>
              </a:lnSpc>
              <a:spcAft>
                <a:spcPts val="0"/>
              </a:spcAft>
            </a:pPr>
            <a:r>
              <a:rPr sz="1450" b="0" i="0">
                <a:solidFill>
                  <a:srgbClr val="9AAEE0"/>
                </a:solidFill>
                <a:latin typeface="Verdana"/>
              </a:rPr>
              <a:t>Health Informatics</a:t>
            </a:r>
          </a:p>
        </p:txBody>
      </p:sp>
      <p:sp>
        <p:nvSpPr>
          <p:cNvPr id="12" name="TextBox 11"/>
          <p:cNvSpPr txBox="1"/>
          <p:nvPr/>
        </p:nvSpPr>
        <p:spPr>
          <a:xfrm>
            <a:off x="24140160" y="1652281"/>
            <a:ext cx="4846320" cy="185791"/>
          </a:xfrm>
          <a:prstGeom prst="rect">
            <a:avLst/>
          </a:prstGeom>
          <a:noFill/>
        </p:spPr>
        <p:txBody>
          <a:bodyPr wrap="square" lIns="0" rIns="0" tIns="0" bIns="0">
            <a:spAutoFit/>
          </a:bodyPr>
          <a:lstStyle/>
          <a:p>
            <a:pPr algn="l">
              <a:lnSpc>
                <a:spcPct val="106000"/>
              </a:lnSpc>
              <a:spcAft>
                <a:spcPts val="0"/>
              </a:spcAft>
            </a:pPr>
            <a:r>
              <a:rPr sz="1050" b="1" i="0">
                <a:solidFill>
                  <a:srgbClr val="7E96D2"/>
                </a:solidFill>
                <a:latin typeface="Verdana"/>
              </a:rPr>
              <a:t>ACKNOWLEDGED CONTRIBUTOR</a:t>
            </a:r>
          </a:p>
        </p:txBody>
      </p:sp>
      <p:sp>
        <p:nvSpPr>
          <p:cNvPr id="13" name="TextBox 12"/>
          <p:cNvSpPr txBox="1"/>
          <p:nvPr/>
        </p:nvSpPr>
        <p:spPr>
          <a:xfrm>
            <a:off x="24140160" y="1865504"/>
            <a:ext cx="4846320" cy="265416"/>
          </a:xfrm>
          <a:prstGeom prst="rect">
            <a:avLst/>
          </a:prstGeom>
          <a:noFill/>
        </p:spPr>
        <p:txBody>
          <a:bodyPr wrap="square" lIns="0" rIns="0" tIns="0" bIns="0">
            <a:spAutoFit/>
          </a:bodyPr>
          <a:lstStyle/>
          <a:p>
            <a:pPr algn="l">
              <a:lnSpc>
                <a:spcPct val="106000"/>
              </a:lnSpc>
              <a:spcAft>
                <a:spcPts val="0"/>
              </a:spcAft>
            </a:pPr>
            <a:r>
              <a:rPr sz="1500" b="1" i="0">
                <a:solidFill>
                  <a:srgbClr val="FFFFFF"/>
                </a:solidFill>
                <a:latin typeface="Verdana"/>
              </a:rPr>
              <a:t>Gabrielle Cevallos</a:t>
            </a:r>
          </a:p>
        </p:txBody>
      </p:sp>
      <p:sp>
        <p:nvSpPr>
          <p:cNvPr id="14" name="TextBox 13"/>
          <p:cNvSpPr txBox="1"/>
          <p:nvPr/>
        </p:nvSpPr>
        <p:spPr>
          <a:xfrm>
            <a:off x="24140160" y="2313801"/>
            <a:ext cx="4846320" cy="1113415"/>
          </a:xfrm>
          <a:prstGeom prst="rect">
            <a:avLst/>
          </a:prstGeom>
          <a:noFill/>
        </p:spPr>
        <p:txBody>
          <a:bodyPr wrap="square" lIns="0" rIns="0" tIns="0" bIns="0">
            <a:spAutoFit/>
          </a:bodyPr>
          <a:lstStyle/>
          <a:p>
            <a:pPr algn="l">
              <a:lnSpc>
                <a:spcPct val="116000"/>
              </a:lnSpc>
              <a:spcAft>
                <a:spcPts val="0"/>
              </a:spcAft>
            </a:pPr>
            <a:r>
              <a:rPr sz="1150" b="0" i="0">
                <a:solidFill>
                  <a:srgbClr val="A8B8DC"/>
                </a:solidFill>
                <a:latin typeface="Verdana"/>
              </a:rPr>
              <a:t>METHODS.  Structured review of federal rulemaking and executive action, published certification cost data, national breach statistics, AI certification program documentation, and peer-reviewed evidence on deployed clinical AI.</a:t>
            </a:r>
          </a:p>
        </p:txBody>
      </p:sp>
      <p:sp>
        <p:nvSpPr>
          <p:cNvPr id="15" name="Rectangle 14"/>
          <p:cNvSpPr/>
          <p:nvPr/>
        </p:nvSpPr>
        <p:spPr>
          <a:xfrm>
            <a:off x="29416248" y="731520"/>
            <a:ext cx="2752344" cy="32186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qr_research.png"/>
          <p:cNvPicPr>
            <a:picLocks noChangeAspect="1"/>
          </p:cNvPicPr>
          <p:nvPr/>
        </p:nvPicPr>
        <p:blipFill>
          <a:blip r:embed="rId2"/>
          <a:stretch>
            <a:fillRect/>
          </a:stretch>
        </p:blipFill>
        <p:spPr>
          <a:xfrm>
            <a:off x="29580840" y="896112"/>
            <a:ext cx="2423160" cy="2423160"/>
          </a:xfrm>
          <a:prstGeom prst="rect">
            <a:avLst/>
          </a:prstGeom>
        </p:spPr>
      </p:pic>
      <p:sp>
        <p:nvSpPr>
          <p:cNvPr id="17" name="TextBox 16"/>
          <p:cNvSpPr txBox="1"/>
          <p:nvPr/>
        </p:nvSpPr>
        <p:spPr>
          <a:xfrm>
            <a:off x="29452824" y="3465576"/>
            <a:ext cx="2679191" cy="418657"/>
          </a:xfrm>
          <a:prstGeom prst="rect">
            <a:avLst/>
          </a:prstGeom>
          <a:noFill/>
        </p:spPr>
        <p:txBody>
          <a:bodyPr wrap="square" lIns="0" rIns="0" tIns="0" bIns="0">
            <a:spAutoFit/>
          </a:bodyPr>
          <a:lstStyle/>
          <a:p>
            <a:pPr algn="ctr">
              <a:lnSpc>
                <a:spcPct val="114000"/>
              </a:lnSpc>
              <a:spcAft>
                <a:spcPts val="0"/>
              </a:spcAft>
            </a:pPr>
            <a:r>
              <a:rPr sz="1100" b="1" i="0">
                <a:solidFill>
                  <a:srgbClr val="162652"/>
                </a:solidFill>
                <a:latin typeface="Verdana"/>
              </a:rPr>
              <a:t>SCAN FOR THE FULL
WORKING PAPER &amp; SOURCES</a:t>
            </a:r>
          </a:p>
        </p:txBody>
      </p:sp>
      <p:sp>
        <p:nvSpPr>
          <p:cNvPr id="18" name="TextBox 17"/>
          <p:cNvSpPr txBox="1"/>
          <p:nvPr/>
        </p:nvSpPr>
        <p:spPr>
          <a:xfrm>
            <a:off x="1280160" y="4818888"/>
            <a:ext cx="9253728" cy="225781"/>
          </a:xfrm>
          <a:prstGeom prst="rect">
            <a:avLst/>
          </a:prstGeom>
          <a:noFill/>
        </p:spPr>
        <p:txBody>
          <a:bodyPr wrap="square" lIns="0" rIns="0" tIns="0" bIns="0">
            <a:spAutoFit/>
          </a:bodyPr>
          <a:lstStyle/>
          <a:p>
            <a:pPr algn="l">
              <a:lnSpc>
                <a:spcPct val="106000"/>
              </a:lnSpc>
              <a:spcAft>
                <a:spcPts val="0"/>
              </a:spcAft>
            </a:pPr>
            <a:r>
              <a:rPr sz="1276" b="1" i="0">
                <a:solidFill>
                  <a:srgbClr val="A53C29"/>
                </a:solidFill>
                <a:latin typeface="Verdana"/>
              </a:rPr>
              <a:t>THE PROBLEM</a:t>
            </a:r>
          </a:p>
        </p:txBody>
      </p:sp>
      <p:sp>
        <p:nvSpPr>
          <p:cNvPr id="19" name="TextBox 18"/>
          <p:cNvSpPr txBox="1"/>
          <p:nvPr/>
        </p:nvSpPr>
        <p:spPr>
          <a:xfrm>
            <a:off x="1280160" y="5108677"/>
            <a:ext cx="9253728" cy="662213"/>
          </a:xfrm>
          <a:prstGeom prst="rect">
            <a:avLst/>
          </a:prstGeom>
          <a:noFill/>
        </p:spPr>
        <p:txBody>
          <a:bodyPr wrap="square" lIns="0" rIns="0" tIns="0" bIns="0">
            <a:spAutoFit/>
          </a:bodyPr>
          <a:lstStyle/>
          <a:p>
            <a:pPr algn="l">
              <a:lnSpc>
                <a:spcPct val="98000"/>
              </a:lnSpc>
              <a:spcAft>
                <a:spcPts val="0"/>
              </a:spcAft>
            </a:pPr>
            <a:r>
              <a:rPr sz="2023" b="1" i="0">
                <a:solidFill>
                  <a:srgbClr val="171A21"/>
                </a:solidFill>
                <a:latin typeface="Verdana"/>
              </a:rPr>
              <a:t>Hospitals are required to follow one framework — and it does not cover AI</a:t>
            </a:r>
          </a:p>
        </p:txBody>
      </p:sp>
      <p:sp>
        <p:nvSpPr>
          <p:cNvPr id="20" name="TextBox 19"/>
          <p:cNvSpPr txBox="1"/>
          <p:nvPr/>
        </p:nvSpPr>
        <p:spPr>
          <a:xfrm>
            <a:off x="1280160" y="5917194"/>
            <a:ext cx="9253728" cy="803822"/>
          </a:xfrm>
          <a:prstGeom prst="rect">
            <a:avLst/>
          </a:prstGeom>
          <a:noFill/>
        </p:spPr>
        <p:txBody>
          <a:bodyPr wrap="square" lIns="0" rIns="0" tIns="0" bIns="0">
            <a:spAutoFit/>
          </a:bodyPr>
          <a:lstStyle/>
          <a:p>
            <a:pPr algn="l">
              <a:lnSpc>
                <a:spcPct val="114000"/>
              </a:lnSpc>
              <a:spcAft>
                <a:spcPts val="0"/>
              </a:spcAft>
            </a:pPr>
            <a:r>
              <a:rPr sz="1408" b="0" i="0">
                <a:solidFill>
                  <a:srgbClr val="171A21"/>
                </a:solidFill>
                <a:latin typeface="Verdana"/>
              </a:rPr>
              <a:t>Nearly every U.S. healthcare organization holds exactly one mandatory security obligation: </a:t>
            </a:r>
            <a:r>
              <a:rPr sz="1408" b="1" i="0">
                <a:solidFill>
                  <a:srgbClr val="171A21"/>
                </a:solidFill>
                <a:latin typeface="Verdana"/>
              </a:rPr>
              <a:t>the HIPAA Security Rule</a:t>
            </a:r>
            <a:r>
              <a:rPr sz="1408" b="0" i="0">
                <a:solidFill>
                  <a:srgbClr val="171A21"/>
                </a:solidFill>
                <a:latin typeface="Verdana"/>
              </a:rPr>
              <a:t>. It governs who may access patient data, and requires audit logs of that access.</a:t>
            </a:r>
          </a:p>
        </p:txBody>
      </p:sp>
      <p:sp>
        <p:nvSpPr>
          <p:cNvPr id="21" name="TextBox 20"/>
          <p:cNvSpPr txBox="1"/>
          <p:nvPr/>
        </p:nvSpPr>
        <p:spPr>
          <a:xfrm>
            <a:off x="1280160" y="6849032"/>
            <a:ext cx="9253728" cy="803822"/>
          </a:xfrm>
          <a:prstGeom prst="rect">
            <a:avLst/>
          </a:prstGeom>
          <a:noFill/>
        </p:spPr>
        <p:txBody>
          <a:bodyPr wrap="square" lIns="0" rIns="0" tIns="0" bIns="0">
            <a:spAutoFit/>
          </a:bodyPr>
          <a:lstStyle/>
          <a:p>
            <a:pPr algn="l">
              <a:lnSpc>
                <a:spcPct val="114000"/>
              </a:lnSpc>
              <a:spcAft>
                <a:spcPts val="0"/>
              </a:spcAft>
            </a:pPr>
            <a:r>
              <a:rPr sz="1408" b="1" i="0">
                <a:solidFill>
                  <a:srgbClr val="171A21"/>
                </a:solidFill>
                <a:latin typeface="Verdana"/>
              </a:rPr>
              <a:t>It says nothing about the AI itself.</a:t>
            </a:r>
            <a:r>
              <a:rPr sz="1408" b="0" i="0">
                <a:solidFill>
                  <a:srgbClr val="171A21"/>
                </a:solidFill>
                <a:latin typeface="Verdana"/>
              </a:rPr>
              <a:t>  Not whether a model is accurate on this hospital's patients, not whether its performance has degraded since purchase, and not what the clinician did with its recommendation.</a:t>
            </a:r>
          </a:p>
        </p:txBody>
      </p:sp>
      <p:sp>
        <p:nvSpPr>
          <p:cNvPr id="24" name="TextBox 23"/>
          <p:cNvSpPr txBox="1"/>
          <p:nvPr/>
        </p:nvSpPr>
        <p:spPr>
          <a:xfrm>
            <a:off x="1280160" y="8402662"/>
            <a:ext cx="9253728" cy="225781"/>
          </a:xfrm>
          <a:prstGeom prst="rect">
            <a:avLst/>
          </a:prstGeom>
          <a:noFill/>
        </p:spPr>
        <p:txBody>
          <a:bodyPr wrap="square" lIns="0" rIns="0" tIns="0" bIns="0">
            <a:spAutoFit/>
          </a:bodyPr>
          <a:lstStyle/>
          <a:p>
            <a:pPr algn="l">
              <a:lnSpc>
                <a:spcPct val="106000"/>
              </a:lnSpc>
              <a:spcAft>
                <a:spcPts val="0"/>
              </a:spcAft>
            </a:pPr>
            <a:r>
              <a:rPr sz="1276" b="1" i="0">
                <a:solidFill>
                  <a:srgbClr val="2B4796"/>
                </a:solidFill>
                <a:latin typeface="Verdana"/>
              </a:rPr>
              <a:t>FINDING 1</a:t>
            </a:r>
          </a:p>
        </p:txBody>
      </p:sp>
      <p:sp>
        <p:nvSpPr>
          <p:cNvPr id="25" name="TextBox 24"/>
          <p:cNvSpPr txBox="1"/>
          <p:nvPr/>
        </p:nvSpPr>
        <p:spPr>
          <a:xfrm>
            <a:off x="1280160" y="8692452"/>
            <a:ext cx="9253728" cy="345502"/>
          </a:xfrm>
          <a:prstGeom prst="rect">
            <a:avLst/>
          </a:prstGeom>
          <a:noFill/>
        </p:spPr>
        <p:txBody>
          <a:bodyPr wrap="square" lIns="0" rIns="0" tIns="0" bIns="0">
            <a:spAutoFit/>
          </a:bodyPr>
          <a:lstStyle/>
          <a:p>
            <a:pPr algn="l">
              <a:lnSpc>
                <a:spcPct val="98000"/>
              </a:lnSpc>
              <a:spcAft>
                <a:spcPts val="0"/>
              </a:spcAft>
            </a:pPr>
            <a:r>
              <a:rPr sz="2112" b="1" i="0">
                <a:solidFill>
                  <a:srgbClr val="171A21"/>
                </a:solidFill>
                <a:latin typeface="Verdana"/>
              </a:rPr>
              <a:t>The one required framework is also the weakest</a:t>
            </a:r>
          </a:p>
        </p:txBody>
      </p:sp>
      <p:sp>
        <p:nvSpPr>
          <p:cNvPr id="26" name="TextBox 25"/>
          <p:cNvSpPr txBox="1"/>
          <p:nvPr/>
        </p:nvSpPr>
        <p:spPr>
          <a:xfrm>
            <a:off x="1280160" y="9184258"/>
            <a:ext cx="9253728" cy="778702"/>
          </a:xfrm>
          <a:prstGeom prst="rect">
            <a:avLst/>
          </a:prstGeom>
          <a:noFill/>
        </p:spPr>
        <p:txBody>
          <a:bodyPr wrap="square" lIns="0" rIns="0" tIns="0" bIns="0">
            <a:spAutoFit/>
          </a:bodyPr>
          <a:lstStyle/>
          <a:p>
            <a:pPr algn="l">
              <a:lnSpc>
                <a:spcPct val="114000"/>
              </a:lnSpc>
              <a:spcAft>
                <a:spcPts val="0"/>
              </a:spcAft>
            </a:pPr>
            <a:r>
              <a:rPr sz="1364" b="0" i="0">
                <a:solidFill>
                  <a:srgbClr val="171A21"/>
                </a:solidFill>
                <a:latin typeface="Verdana"/>
              </a:rPr>
              <a:t>The HIPAA Security Rule splits its requirements into </a:t>
            </a:r>
            <a:r>
              <a:rPr sz="1364" b="1" i="0">
                <a:solidFill>
                  <a:srgbClr val="171A21"/>
                </a:solidFill>
                <a:latin typeface="Verdana"/>
              </a:rPr>
              <a:t>“required”</a:t>
            </a:r>
            <a:r>
              <a:rPr sz="1364" b="0" i="0">
                <a:solidFill>
                  <a:srgbClr val="171A21"/>
                </a:solidFill>
                <a:latin typeface="Verdana"/>
              </a:rPr>
              <a:t> and </a:t>
            </a:r>
            <a:r>
              <a:rPr sz="1364" b="1" i="0">
                <a:solidFill>
                  <a:srgbClr val="171A21"/>
                </a:solidFill>
                <a:latin typeface="Verdana"/>
              </a:rPr>
              <a:t>“addressable.”</a:t>
            </a:r>
            <a:r>
              <a:rPr sz="1364" b="0" i="0">
                <a:solidFill>
                  <a:srgbClr val="171A21"/>
                </a:solidFill>
                <a:latin typeface="Verdana"/>
              </a:rPr>
              <a:t>  In practice, addressable has functioned as optional for twenty years — which is why encryption and multi-factor authentication are still not universal in hospitals.</a:t>
            </a:r>
          </a:p>
        </p:txBody>
      </p:sp>
      <p:sp>
        <p:nvSpPr>
          <p:cNvPr id="27" name="TextBox 26"/>
          <p:cNvSpPr txBox="1"/>
          <p:nvPr/>
        </p:nvSpPr>
        <p:spPr>
          <a:xfrm>
            <a:off x="1572768" y="10145841"/>
            <a:ext cx="8668512" cy="194638"/>
          </a:xfrm>
          <a:prstGeom prst="rect">
            <a:avLst/>
          </a:prstGeom>
          <a:noFill/>
        </p:spPr>
        <p:txBody>
          <a:bodyPr wrap="square" lIns="0" rIns="0" tIns="0" bIns="0">
            <a:spAutoFit/>
          </a:bodyPr>
          <a:lstStyle/>
          <a:p>
            <a:pPr algn="l">
              <a:lnSpc>
                <a:spcPct val="106000"/>
              </a:lnSpc>
              <a:spcAft>
                <a:spcPts val="0"/>
              </a:spcAft>
            </a:pPr>
            <a:r>
              <a:rPr sz="1100" b="1" i="0">
                <a:solidFill>
                  <a:srgbClr val="8E6218"/>
                </a:solidFill>
                <a:latin typeface="Verdana"/>
              </a:rPr>
              <a:t>A FIX WAS PROPOSED — AND HAS NOT ARRIVED</a:t>
            </a:r>
          </a:p>
        </p:txBody>
      </p:sp>
      <p:sp>
        <p:nvSpPr>
          <p:cNvPr id="28" name="TextBox 27"/>
          <p:cNvSpPr txBox="1"/>
          <p:nvPr/>
        </p:nvSpPr>
        <p:spPr>
          <a:xfrm>
            <a:off x="1572768" y="10413632"/>
            <a:ext cx="8668512" cy="225781"/>
          </a:xfrm>
          <a:prstGeom prst="rect">
            <a:avLst/>
          </a:prstGeom>
          <a:noFill/>
        </p:spPr>
        <p:txBody>
          <a:bodyPr wrap="square" lIns="0" rIns="0" tIns="0" bIns="0">
            <a:spAutoFit/>
          </a:bodyPr>
          <a:lstStyle/>
          <a:p>
            <a:pPr algn="l">
              <a:lnSpc>
                <a:spcPct val="106000"/>
              </a:lnSpc>
              <a:spcAft>
                <a:spcPts val="0"/>
              </a:spcAft>
            </a:pPr>
            <a:r>
              <a:rPr sz="1276" b="0" i="0">
                <a:solidFill>
                  <a:srgbClr val="4C5566"/>
                </a:solidFill>
                <a:latin typeface="Verdana"/>
              </a:rPr>
              <a:t>Proposed by HHS   </a:t>
            </a:r>
            <a:r>
              <a:rPr sz="1276" b="1" i="0">
                <a:solidFill>
                  <a:srgbClr val="4C5566"/>
                </a:solidFill>
                <a:latin typeface="Verdana"/>
              </a:rPr>
              <a:t>December 2024</a:t>
            </a:r>
          </a:p>
        </p:txBody>
      </p:sp>
      <p:sp>
        <p:nvSpPr>
          <p:cNvPr id="29" name="TextBox 28"/>
          <p:cNvSpPr txBox="1"/>
          <p:nvPr/>
        </p:nvSpPr>
        <p:spPr>
          <a:xfrm>
            <a:off x="1572768" y="10685133"/>
            <a:ext cx="8668512" cy="225781"/>
          </a:xfrm>
          <a:prstGeom prst="rect">
            <a:avLst/>
          </a:prstGeom>
          <a:noFill/>
        </p:spPr>
        <p:txBody>
          <a:bodyPr wrap="square" lIns="0" rIns="0" tIns="0" bIns="0">
            <a:spAutoFit/>
          </a:bodyPr>
          <a:lstStyle/>
          <a:p>
            <a:pPr algn="l">
              <a:lnSpc>
                <a:spcPct val="106000"/>
              </a:lnSpc>
              <a:spcAft>
                <a:spcPts val="0"/>
              </a:spcAft>
            </a:pPr>
            <a:r>
              <a:rPr sz="1276" b="0" i="0">
                <a:solidFill>
                  <a:srgbClr val="4C5566"/>
                </a:solidFill>
                <a:latin typeface="Verdana"/>
              </a:rPr>
              <a:t>Final rule target   </a:t>
            </a:r>
            <a:r>
              <a:rPr sz="1276" b="1" i="0">
                <a:solidFill>
                  <a:srgbClr val="4C5566"/>
                </a:solidFill>
                <a:latin typeface="Verdana"/>
              </a:rPr>
              <a:t>July 2027</a:t>
            </a:r>
          </a:p>
        </p:txBody>
      </p:sp>
      <p:sp>
        <p:nvSpPr>
          <p:cNvPr id="30" name="TextBox 29"/>
          <p:cNvSpPr txBox="1"/>
          <p:nvPr/>
        </p:nvSpPr>
        <p:spPr>
          <a:xfrm>
            <a:off x="1572768" y="10956634"/>
            <a:ext cx="8668512" cy="225781"/>
          </a:xfrm>
          <a:prstGeom prst="rect">
            <a:avLst/>
          </a:prstGeom>
          <a:noFill/>
        </p:spPr>
        <p:txBody>
          <a:bodyPr wrap="square" lIns="0" rIns="0" tIns="0" bIns="0">
            <a:spAutoFit/>
          </a:bodyPr>
          <a:lstStyle/>
          <a:p>
            <a:pPr algn="l">
              <a:lnSpc>
                <a:spcPct val="106000"/>
              </a:lnSpc>
              <a:spcAft>
                <a:spcPts val="0"/>
              </a:spcAft>
            </a:pPr>
            <a:r>
              <a:rPr sz="1276" b="0" i="0">
                <a:solidFill>
                  <a:srgbClr val="4C5566"/>
                </a:solidFill>
                <a:latin typeface="Verdana"/>
              </a:rPr>
              <a:t>Status, August 2026   </a:t>
            </a:r>
            <a:r>
              <a:rPr sz="1276" b="1" i="0">
                <a:solidFill>
                  <a:srgbClr val="4C5566"/>
                </a:solidFill>
                <a:latin typeface="Verdana"/>
              </a:rPr>
              <a:t>Still only a proposal</a:t>
            </a:r>
          </a:p>
        </p:txBody>
      </p:sp>
      <p:sp>
        <p:nvSpPr>
          <p:cNvPr id="35" name="TextBox 34"/>
          <p:cNvSpPr txBox="1"/>
          <p:nvPr/>
        </p:nvSpPr>
        <p:spPr>
          <a:xfrm>
            <a:off x="1280160" y="12160824"/>
            <a:ext cx="9253728" cy="225781"/>
          </a:xfrm>
          <a:prstGeom prst="rect">
            <a:avLst/>
          </a:prstGeom>
          <a:noFill/>
        </p:spPr>
        <p:txBody>
          <a:bodyPr wrap="square" lIns="0" rIns="0" tIns="0" bIns="0">
            <a:spAutoFit/>
          </a:bodyPr>
          <a:lstStyle/>
          <a:p>
            <a:pPr algn="l">
              <a:lnSpc>
                <a:spcPct val="106000"/>
              </a:lnSpc>
              <a:spcAft>
                <a:spcPts val="0"/>
              </a:spcAft>
            </a:pPr>
            <a:r>
              <a:rPr sz="1276" b="1" i="0">
                <a:solidFill>
                  <a:srgbClr val="2B4796"/>
                </a:solidFill>
                <a:latin typeface="Verdana"/>
              </a:rPr>
              <a:t>FINDING 2</a:t>
            </a:r>
          </a:p>
        </p:txBody>
      </p:sp>
      <p:sp>
        <p:nvSpPr>
          <p:cNvPr id="36" name="TextBox 35"/>
          <p:cNvSpPr txBox="1"/>
          <p:nvPr/>
        </p:nvSpPr>
        <p:spPr>
          <a:xfrm>
            <a:off x="1280160" y="12450613"/>
            <a:ext cx="9253728" cy="662213"/>
          </a:xfrm>
          <a:prstGeom prst="rect">
            <a:avLst/>
          </a:prstGeom>
          <a:noFill/>
        </p:spPr>
        <p:txBody>
          <a:bodyPr wrap="square" lIns="0" rIns="0" tIns="0" bIns="0">
            <a:spAutoFit/>
          </a:bodyPr>
          <a:lstStyle/>
          <a:p>
            <a:pPr algn="l">
              <a:lnSpc>
                <a:spcPct val="98000"/>
              </a:lnSpc>
              <a:spcAft>
                <a:spcPts val="0"/>
              </a:spcAft>
            </a:pPr>
            <a:r>
              <a:rPr sz="2023" b="1" i="0">
                <a:solidFill>
                  <a:srgbClr val="171A21"/>
                </a:solidFill>
                <a:latin typeface="Verdana"/>
              </a:rPr>
              <a:t>The stronger frameworks are optional — and cost six figures</a:t>
            </a:r>
          </a:p>
        </p:txBody>
      </p:sp>
      <p:sp>
        <p:nvSpPr>
          <p:cNvPr id="37" name="TextBox 36"/>
          <p:cNvSpPr txBox="1"/>
          <p:nvPr/>
        </p:nvSpPr>
        <p:spPr>
          <a:xfrm>
            <a:off x="1280160" y="13259130"/>
            <a:ext cx="9253728" cy="493575"/>
          </a:xfrm>
          <a:prstGeom prst="rect">
            <a:avLst/>
          </a:prstGeom>
          <a:noFill/>
        </p:spPr>
        <p:txBody>
          <a:bodyPr wrap="square" lIns="0" rIns="0" tIns="0" bIns="0">
            <a:spAutoFit/>
          </a:bodyPr>
          <a:lstStyle/>
          <a:p>
            <a:pPr algn="l">
              <a:lnSpc>
                <a:spcPct val="112000"/>
              </a:lnSpc>
              <a:spcAft>
                <a:spcPts val="0"/>
              </a:spcAft>
            </a:pPr>
            <a:r>
              <a:rPr sz="1320" b="0" i="0">
                <a:solidFill>
                  <a:srgbClr val="4C5566"/>
                </a:solidFill>
                <a:latin typeface="Verdana"/>
              </a:rPr>
              <a:t>Frameworks that would cover the rest of the stack do exist. None is mandatory for a hospital, and each must be paid for:</a:t>
            </a:r>
          </a:p>
        </p:txBody>
      </p:sp>
      <p:sp>
        <p:nvSpPr>
          <p:cNvPr id="38" name="Rectangle 37"/>
          <p:cNvSpPr/>
          <p:nvPr/>
        </p:nvSpPr>
        <p:spPr>
          <a:xfrm>
            <a:off x="1280160" y="13880721"/>
            <a:ext cx="9253728" cy="43891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481328" y="13999593"/>
            <a:ext cx="4023360" cy="233566"/>
          </a:xfrm>
          <a:prstGeom prst="rect">
            <a:avLst/>
          </a:prstGeom>
          <a:noFill/>
        </p:spPr>
        <p:txBody>
          <a:bodyPr wrap="square" lIns="0" rIns="0" tIns="0" bIns="0">
            <a:spAutoFit/>
          </a:bodyPr>
          <a:lstStyle/>
          <a:p>
            <a:pPr algn="l">
              <a:lnSpc>
                <a:spcPct val="106000"/>
              </a:lnSpc>
              <a:spcAft>
                <a:spcPts val="0"/>
              </a:spcAft>
            </a:pPr>
            <a:r>
              <a:rPr sz="1320" b="1" i="0">
                <a:solidFill>
                  <a:srgbClr val="171A21"/>
                </a:solidFill>
                <a:latin typeface="Verdana"/>
              </a:rPr>
              <a:t>HIPAA Security Rule</a:t>
            </a:r>
          </a:p>
        </p:txBody>
      </p:sp>
      <p:sp>
        <p:nvSpPr>
          <p:cNvPr id="40" name="TextBox 39"/>
          <p:cNvSpPr txBox="1"/>
          <p:nvPr/>
        </p:nvSpPr>
        <p:spPr>
          <a:xfrm>
            <a:off x="5669280" y="14008737"/>
            <a:ext cx="4709160" cy="202424"/>
          </a:xfrm>
          <a:prstGeom prst="rect">
            <a:avLst/>
          </a:prstGeom>
          <a:noFill/>
        </p:spPr>
        <p:txBody>
          <a:bodyPr wrap="square" lIns="0" rIns="0" tIns="0" bIns="0">
            <a:spAutoFit/>
          </a:bodyPr>
          <a:lstStyle/>
          <a:p>
            <a:pPr algn="r">
              <a:lnSpc>
                <a:spcPct val="106000"/>
              </a:lnSpc>
              <a:spcAft>
                <a:spcPts val="0"/>
              </a:spcAft>
            </a:pPr>
            <a:r>
              <a:rPr sz="1144" b="0" i="0">
                <a:solidFill>
                  <a:srgbClr val="4C5566"/>
                </a:solidFill>
                <a:latin typeface="Consolas"/>
              </a:rPr>
              <a:t>Mandatory — but no certificate exists</a:t>
            </a:r>
          </a:p>
        </p:txBody>
      </p:sp>
      <p:sp>
        <p:nvSpPr>
          <p:cNvPr id="41" name="Rectangle 40"/>
          <p:cNvSpPr/>
          <p:nvPr/>
        </p:nvSpPr>
        <p:spPr>
          <a:xfrm>
            <a:off x="1280160" y="14356209"/>
            <a:ext cx="9253728"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481328" y="14475081"/>
            <a:ext cx="4023360" cy="233566"/>
          </a:xfrm>
          <a:prstGeom prst="rect">
            <a:avLst/>
          </a:prstGeom>
          <a:noFill/>
        </p:spPr>
        <p:txBody>
          <a:bodyPr wrap="square" lIns="0" rIns="0" tIns="0" bIns="0">
            <a:spAutoFit/>
          </a:bodyPr>
          <a:lstStyle/>
          <a:p>
            <a:pPr algn="l">
              <a:lnSpc>
                <a:spcPct val="106000"/>
              </a:lnSpc>
              <a:spcAft>
                <a:spcPts val="0"/>
              </a:spcAft>
            </a:pPr>
            <a:r>
              <a:rPr sz="1320" b="1" i="0">
                <a:solidFill>
                  <a:srgbClr val="171A21"/>
                </a:solidFill>
                <a:latin typeface="Verdana"/>
              </a:rPr>
              <a:t>SOC 2</a:t>
            </a:r>
          </a:p>
        </p:txBody>
      </p:sp>
      <p:sp>
        <p:nvSpPr>
          <p:cNvPr id="43" name="TextBox 42"/>
          <p:cNvSpPr txBox="1"/>
          <p:nvPr/>
        </p:nvSpPr>
        <p:spPr>
          <a:xfrm>
            <a:off x="5669280" y="14484225"/>
            <a:ext cx="4709160" cy="202424"/>
          </a:xfrm>
          <a:prstGeom prst="rect">
            <a:avLst/>
          </a:prstGeom>
          <a:noFill/>
        </p:spPr>
        <p:txBody>
          <a:bodyPr wrap="square" lIns="0" rIns="0" tIns="0" bIns="0">
            <a:spAutoFit/>
          </a:bodyPr>
          <a:lstStyle/>
          <a:p>
            <a:pPr algn="r">
              <a:lnSpc>
                <a:spcPct val="106000"/>
              </a:lnSpc>
              <a:spcAft>
                <a:spcPts val="0"/>
              </a:spcAft>
            </a:pPr>
            <a:r>
              <a:rPr sz="1144" b="1" i="0">
                <a:solidFill>
                  <a:srgbClr val="171A21"/>
                </a:solidFill>
                <a:latin typeface="Consolas"/>
              </a:rPr>
              <a:t>Tens of thousands</a:t>
            </a:r>
          </a:p>
        </p:txBody>
      </p:sp>
      <p:sp>
        <p:nvSpPr>
          <p:cNvPr id="44" name="Rectangle 43"/>
          <p:cNvSpPr/>
          <p:nvPr/>
        </p:nvSpPr>
        <p:spPr>
          <a:xfrm>
            <a:off x="1280160" y="14831697"/>
            <a:ext cx="9253728"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481328" y="14950569"/>
            <a:ext cx="4023360" cy="233566"/>
          </a:xfrm>
          <a:prstGeom prst="rect">
            <a:avLst/>
          </a:prstGeom>
          <a:noFill/>
        </p:spPr>
        <p:txBody>
          <a:bodyPr wrap="square" lIns="0" rIns="0" tIns="0" bIns="0">
            <a:spAutoFit/>
          </a:bodyPr>
          <a:lstStyle/>
          <a:p>
            <a:pPr algn="l">
              <a:lnSpc>
                <a:spcPct val="106000"/>
              </a:lnSpc>
              <a:spcAft>
                <a:spcPts val="0"/>
              </a:spcAft>
            </a:pPr>
            <a:r>
              <a:rPr sz="1320" b="1" i="0">
                <a:solidFill>
                  <a:srgbClr val="171A21"/>
                </a:solidFill>
                <a:latin typeface="Verdana"/>
              </a:rPr>
              <a:t>HITRUST</a:t>
            </a:r>
          </a:p>
        </p:txBody>
      </p:sp>
      <p:sp>
        <p:nvSpPr>
          <p:cNvPr id="46" name="TextBox 45"/>
          <p:cNvSpPr txBox="1"/>
          <p:nvPr/>
        </p:nvSpPr>
        <p:spPr>
          <a:xfrm>
            <a:off x="5669280" y="14959713"/>
            <a:ext cx="4709160" cy="202424"/>
          </a:xfrm>
          <a:prstGeom prst="rect">
            <a:avLst/>
          </a:prstGeom>
          <a:noFill/>
        </p:spPr>
        <p:txBody>
          <a:bodyPr wrap="square" lIns="0" rIns="0" tIns="0" bIns="0">
            <a:spAutoFit/>
          </a:bodyPr>
          <a:lstStyle/>
          <a:p>
            <a:pPr algn="r">
              <a:lnSpc>
                <a:spcPct val="106000"/>
              </a:lnSpc>
              <a:spcAft>
                <a:spcPts val="0"/>
              </a:spcAft>
            </a:pPr>
            <a:r>
              <a:rPr sz="1144" b="1" i="0">
                <a:solidFill>
                  <a:srgbClr val="171A21"/>
                </a:solidFill>
                <a:latin typeface="Consolas"/>
              </a:rPr>
              <a:t>$35K–$100K+  (one system: $500K+)</a:t>
            </a:r>
          </a:p>
        </p:txBody>
      </p:sp>
      <p:sp>
        <p:nvSpPr>
          <p:cNvPr id="47" name="Rectangle 46"/>
          <p:cNvSpPr/>
          <p:nvPr/>
        </p:nvSpPr>
        <p:spPr>
          <a:xfrm>
            <a:off x="1280160" y="15307185"/>
            <a:ext cx="9253728"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481328" y="15426057"/>
            <a:ext cx="4023360" cy="233566"/>
          </a:xfrm>
          <a:prstGeom prst="rect">
            <a:avLst/>
          </a:prstGeom>
          <a:noFill/>
        </p:spPr>
        <p:txBody>
          <a:bodyPr wrap="square" lIns="0" rIns="0" tIns="0" bIns="0">
            <a:spAutoFit/>
          </a:bodyPr>
          <a:lstStyle/>
          <a:p>
            <a:pPr algn="l">
              <a:lnSpc>
                <a:spcPct val="106000"/>
              </a:lnSpc>
              <a:spcAft>
                <a:spcPts val="0"/>
              </a:spcAft>
            </a:pPr>
            <a:r>
              <a:rPr sz="1320" b="1" i="0">
                <a:solidFill>
                  <a:srgbClr val="171A21"/>
                </a:solidFill>
                <a:latin typeface="Verdana"/>
              </a:rPr>
              <a:t>FedRAMP</a:t>
            </a:r>
          </a:p>
        </p:txBody>
      </p:sp>
      <p:sp>
        <p:nvSpPr>
          <p:cNvPr id="49" name="TextBox 48"/>
          <p:cNvSpPr txBox="1"/>
          <p:nvPr/>
        </p:nvSpPr>
        <p:spPr>
          <a:xfrm>
            <a:off x="5669280" y="15435201"/>
            <a:ext cx="4709160" cy="202424"/>
          </a:xfrm>
          <a:prstGeom prst="rect">
            <a:avLst/>
          </a:prstGeom>
          <a:noFill/>
        </p:spPr>
        <p:txBody>
          <a:bodyPr wrap="square" lIns="0" rIns="0" tIns="0" bIns="0">
            <a:spAutoFit/>
          </a:bodyPr>
          <a:lstStyle/>
          <a:p>
            <a:pPr algn="r">
              <a:lnSpc>
                <a:spcPct val="106000"/>
              </a:lnSpc>
              <a:spcAft>
                <a:spcPts val="0"/>
              </a:spcAft>
            </a:pPr>
            <a:r>
              <a:rPr sz="1144" b="1" i="0">
                <a:solidFill>
                  <a:srgbClr val="171A21"/>
                </a:solidFill>
                <a:latin typeface="Consolas"/>
              </a:rPr>
              <a:t>$100Ks to $1M+</a:t>
            </a:r>
          </a:p>
        </p:txBody>
      </p:sp>
      <p:sp>
        <p:nvSpPr>
          <p:cNvPr id="50" name="Rectangle 49"/>
          <p:cNvSpPr/>
          <p:nvPr/>
        </p:nvSpPr>
        <p:spPr>
          <a:xfrm>
            <a:off x="1280160" y="15782673"/>
            <a:ext cx="9253728" cy="43891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481328" y="15901545"/>
            <a:ext cx="4023360" cy="233566"/>
          </a:xfrm>
          <a:prstGeom prst="rect">
            <a:avLst/>
          </a:prstGeom>
          <a:noFill/>
        </p:spPr>
        <p:txBody>
          <a:bodyPr wrap="square" lIns="0" rIns="0" tIns="0" bIns="0">
            <a:spAutoFit/>
          </a:bodyPr>
          <a:lstStyle/>
          <a:p>
            <a:pPr algn="l">
              <a:lnSpc>
                <a:spcPct val="106000"/>
              </a:lnSpc>
              <a:spcAft>
                <a:spcPts val="0"/>
              </a:spcAft>
            </a:pPr>
            <a:r>
              <a:rPr sz="1320" b="1" i="0">
                <a:solidFill>
                  <a:srgbClr val="171A21"/>
                </a:solidFill>
                <a:latin typeface="Verdana"/>
              </a:rPr>
              <a:t>ISO 42001 / NIST AI RMF</a:t>
            </a:r>
          </a:p>
        </p:txBody>
      </p:sp>
      <p:sp>
        <p:nvSpPr>
          <p:cNvPr id="52" name="TextBox 51"/>
          <p:cNvSpPr txBox="1"/>
          <p:nvPr/>
        </p:nvSpPr>
        <p:spPr>
          <a:xfrm>
            <a:off x="5669280" y="15910689"/>
            <a:ext cx="4709160" cy="202424"/>
          </a:xfrm>
          <a:prstGeom prst="rect">
            <a:avLst/>
          </a:prstGeom>
          <a:noFill/>
        </p:spPr>
        <p:txBody>
          <a:bodyPr wrap="square" lIns="0" rIns="0" tIns="0" bIns="0">
            <a:spAutoFit/>
          </a:bodyPr>
          <a:lstStyle/>
          <a:p>
            <a:pPr algn="r">
              <a:lnSpc>
                <a:spcPct val="106000"/>
              </a:lnSpc>
              <a:spcAft>
                <a:spcPts val="0"/>
              </a:spcAft>
            </a:pPr>
            <a:r>
              <a:rPr sz="1144" b="1" i="0">
                <a:solidFill>
                  <a:srgbClr val="171A21"/>
                </a:solidFill>
                <a:latin typeface="Consolas"/>
              </a:rPr>
              <a:t>Varies; newer in healthcare</a:t>
            </a:r>
          </a:p>
        </p:txBody>
      </p:sp>
      <p:sp>
        <p:nvSpPr>
          <p:cNvPr id="53" name="TextBox 52"/>
          <p:cNvSpPr txBox="1"/>
          <p:nvPr/>
        </p:nvSpPr>
        <p:spPr>
          <a:xfrm>
            <a:off x="1280160" y="16367889"/>
            <a:ext cx="9253728" cy="493575"/>
          </a:xfrm>
          <a:prstGeom prst="rect">
            <a:avLst/>
          </a:prstGeom>
          <a:noFill/>
        </p:spPr>
        <p:txBody>
          <a:bodyPr wrap="square" lIns="0" rIns="0" tIns="0" bIns="0">
            <a:spAutoFit/>
          </a:bodyPr>
          <a:lstStyle/>
          <a:p>
            <a:pPr algn="l">
              <a:lnSpc>
                <a:spcPct val="112000"/>
              </a:lnSpc>
              <a:spcAft>
                <a:spcPts val="0"/>
              </a:spcAft>
            </a:pPr>
            <a:r>
              <a:rPr sz="1320" b="1" i="0">
                <a:solidFill>
                  <a:srgbClr val="171A21"/>
                </a:solidFill>
                <a:latin typeface="Verdana"/>
              </a:rPr>
              <a:t>So hospitals stay at the floor.</a:t>
            </a:r>
            <a:r>
              <a:rPr sz="1320" b="0" i="0">
                <a:solidFill>
                  <a:srgbClr val="171A21"/>
                </a:solidFill>
                <a:latin typeface="Verdana"/>
              </a:rPr>
              <a:t>  Not from negligence — from incentive. Obligation drives implementation, and the obligation stops at the data layer.</a:t>
            </a:r>
          </a:p>
        </p:txBody>
      </p:sp>
      <p:sp>
        <p:nvSpPr>
          <p:cNvPr id="56" name="TextBox 55"/>
          <p:cNvSpPr txBox="1"/>
          <p:nvPr/>
        </p:nvSpPr>
        <p:spPr>
          <a:xfrm>
            <a:off x="1280160" y="17611272"/>
            <a:ext cx="9253728" cy="225781"/>
          </a:xfrm>
          <a:prstGeom prst="rect">
            <a:avLst/>
          </a:prstGeom>
          <a:noFill/>
        </p:spPr>
        <p:txBody>
          <a:bodyPr wrap="square" lIns="0" rIns="0" tIns="0" bIns="0">
            <a:spAutoFit/>
          </a:bodyPr>
          <a:lstStyle/>
          <a:p>
            <a:pPr algn="l">
              <a:lnSpc>
                <a:spcPct val="106000"/>
              </a:lnSpc>
              <a:spcAft>
                <a:spcPts val="0"/>
              </a:spcAft>
            </a:pPr>
            <a:r>
              <a:rPr sz="1276" b="1" i="0">
                <a:solidFill>
                  <a:srgbClr val="2B4796"/>
                </a:solidFill>
                <a:latin typeface="Verdana"/>
              </a:rPr>
              <a:t>FINDING 3</a:t>
            </a:r>
          </a:p>
        </p:txBody>
      </p:sp>
      <p:sp>
        <p:nvSpPr>
          <p:cNvPr id="57" name="TextBox 56"/>
          <p:cNvSpPr txBox="1"/>
          <p:nvPr/>
        </p:nvSpPr>
        <p:spPr>
          <a:xfrm>
            <a:off x="1280160" y="17901062"/>
            <a:ext cx="9253728" cy="359898"/>
          </a:xfrm>
          <a:prstGeom prst="rect">
            <a:avLst/>
          </a:prstGeom>
          <a:noFill/>
        </p:spPr>
        <p:txBody>
          <a:bodyPr wrap="square" lIns="0" rIns="0" tIns="0" bIns="0">
            <a:spAutoFit/>
          </a:bodyPr>
          <a:lstStyle/>
          <a:p>
            <a:pPr algn="l">
              <a:lnSpc>
                <a:spcPct val="98000"/>
              </a:lnSpc>
              <a:spcAft>
                <a:spcPts val="0"/>
              </a:spcAft>
            </a:pPr>
            <a:r>
              <a:rPr sz="2200" b="1" i="0">
                <a:solidFill>
                  <a:srgbClr val="171A21"/>
                </a:solidFill>
                <a:latin typeface="Verdana"/>
              </a:rPr>
              <a:t>Meanwhile the sector is under attack</a:t>
            </a:r>
          </a:p>
        </p:txBody>
      </p:sp>
      <p:sp>
        <p:nvSpPr>
          <p:cNvPr id="58" name="TextBox 57"/>
          <p:cNvSpPr txBox="1"/>
          <p:nvPr/>
        </p:nvSpPr>
        <p:spPr>
          <a:xfrm>
            <a:off x="1280160" y="18407264"/>
            <a:ext cx="2916936" cy="540582"/>
          </a:xfrm>
          <a:prstGeom prst="rect">
            <a:avLst/>
          </a:prstGeom>
          <a:noFill/>
        </p:spPr>
        <p:txBody>
          <a:bodyPr wrap="square" lIns="0" rIns="0" tIns="0" bIns="0">
            <a:spAutoFit/>
          </a:bodyPr>
          <a:lstStyle/>
          <a:p>
            <a:pPr algn="l">
              <a:lnSpc>
                <a:spcPct val="92000"/>
              </a:lnSpc>
              <a:spcAft>
                <a:spcPts val="0"/>
              </a:spcAft>
            </a:pPr>
            <a:r>
              <a:rPr sz="3520" b="1" i="0">
                <a:solidFill>
                  <a:srgbClr val="A53C29"/>
                </a:solidFill>
                <a:latin typeface="Verdana"/>
              </a:rPr>
              <a:t>772</a:t>
            </a:r>
          </a:p>
        </p:txBody>
      </p:sp>
      <p:sp>
        <p:nvSpPr>
          <p:cNvPr id="59" name="TextBox 58"/>
          <p:cNvSpPr txBox="1"/>
          <p:nvPr/>
        </p:nvSpPr>
        <p:spPr>
          <a:xfrm>
            <a:off x="1280160" y="19002710"/>
            <a:ext cx="2916936" cy="436285"/>
          </a:xfrm>
          <a:prstGeom prst="rect">
            <a:avLst/>
          </a:prstGeom>
          <a:noFill/>
        </p:spPr>
        <p:txBody>
          <a:bodyPr wrap="square" lIns="0" rIns="0" tIns="0" bIns="0">
            <a:spAutoFit/>
          </a:bodyPr>
          <a:lstStyle/>
          <a:p>
            <a:pPr algn="l">
              <a:lnSpc>
                <a:spcPct val="110000"/>
              </a:lnSpc>
              <a:spcAft>
                <a:spcPts val="0"/>
              </a:spcAft>
            </a:pPr>
            <a:r>
              <a:rPr sz="1188" b="0" i="0">
                <a:solidFill>
                  <a:srgbClr val="4C5566"/>
                </a:solidFill>
                <a:latin typeface="Verdana"/>
              </a:rPr>
              <a:t>breaches affecting
500+ people, 2026</a:t>
            </a:r>
          </a:p>
        </p:txBody>
      </p:sp>
      <p:sp>
        <p:nvSpPr>
          <p:cNvPr id="60" name="TextBox 59"/>
          <p:cNvSpPr txBox="1"/>
          <p:nvPr/>
        </p:nvSpPr>
        <p:spPr>
          <a:xfrm>
            <a:off x="4334256" y="18407264"/>
            <a:ext cx="2916936" cy="540582"/>
          </a:xfrm>
          <a:prstGeom prst="rect">
            <a:avLst/>
          </a:prstGeom>
          <a:noFill/>
        </p:spPr>
        <p:txBody>
          <a:bodyPr wrap="square" lIns="0" rIns="0" tIns="0" bIns="0">
            <a:spAutoFit/>
          </a:bodyPr>
          <a:lstStyle/>
          <a:p>
            <a:pPr algn="l">
              <a:lnSpc>
                <a:spcPct val="92000"/>
              </a:lnSpc>
              <a:spcAft>
                <a:spcPts val="0"/>
              </a:spcAft>
            </a:pPr>
            <a:r>
              <a:rPr sz="3520" b="1" i="0">
                <a:solidFill>
                  <a:srgbClr val="A53C29"/>
                </a:solidFill>
                <a:latin typeface="Verdana"/>
              </a:rPr>
              <a:t>2.3</a:t>
            </a:r>
          </a:p>
        </p:txBody>
      </p:sp>
      <p:sp>
        <p:nvSpPr>
          <p:cNvPr id="61" name="TextBox 60"/>
          <p:cNvSpPr txBox="1"/>
          <p:nvPr/>
        </p:nvSpPr>
        <p:spPr>
          <a:xfrm>
            <a:off x="4334256" y="19002710"/>
            <a:ext cx="2916936" cy="436285"/>
          </a:xfrm>
          <a:prstGeom prst="rect">
            <a:avLst/>
          </a:prstGeom>
          <a:noFill/>
        </p:spPr>
        <p:txBody>
          <a:bodyPr wrap="square" lIns="0" rIns="0" tIns="0" bIns="0">
            <a:spAutoFit/>
          </a:bodyPr>
          <a:lstStyle/>
          <a:p>
            <a:pPr algn="l">
              <a:lnSpc>
                <a:spcPct val="110000"/>
              </a:lnSpc>
              <a:spcAft>
                <a:spcPts val="0"/>
              </a:spcAft>
            </a:pPr>
            <a:r>
              <a:rPr sz="1188" b="0" i="0">
                <a:solidFill>
                  <a:srgbClr val="4C5566"/>
                </a:solidFill>
                <a:latin typeface="Verdana"/>
              </a:rPr>
              <a:t>ransomware attacks
per day, H1 2026</a:t>
            </a:r>
          </a:p>
        </p:txBody>
      </p:sp>
      <p:sp>
        <p:nvSpPr>
          <p:cNvPr id="62" name="TextBox 61"/>
          <p:cNvSpPr txBox="1"/>
          <p:nvPr/>
        </p:nvSpPr>
        <p:spPr>
          <a:xfrm>
            <a:off x="7388352" y="18407264"/>
            <a:ext cx="2916936" cy="540582"/>
          </a:xfrm>
          <a:prstGeom prst="rect">
            <a:avLst/>
          </a:prstGeom>
          <a:noFill/>
        </p:spPr>
        <p:txBody>
          <a:bodyPr wrap="square" lIns="0" rIns="0" tIns="0" bIns="0">
            <a:spAutoFit/>
          </a:bodyPr>
          <a:lstStyle/>
          <a:p>
            <a:pPr algn="l">
              <a:lnSpc>
                <a:spcPct val="92000"/>
              </a:lnSpc>
              <a:spcAft>
                <a:spcPts val="0"/>
              </a:spcAft>
            </a:pPr>
            <a:r>
              <a:rPr sz="3520" b="1" i="0">
                <a:solidFill>
                  <a:srgbClr val="A53C29"/>
                </a:solidFill>
                <a:latin typeface="Verdana"/>
              </a:rPr>
              <a:t>$7.42M</a:t>
            </a:r>
          </a:p>
        </p:txBody>
      </p:sp>
      <p:sp>
        <p:nvSpPr>
          <p:cNvPr id="63" name="TextBox 62"/>
          <p:cNvSpPr txBox="1"/>
          <p:nvPr/>
        </p:nvSpPr>
        <p:spPr>
          <a:xfrm>
            <a:off x="7388352" y="19002710"/>
            <a:ext cx="2916936" cy="436285"/>
          </a:xfrm>
          <a:prstGeom prst="rect">
            <a:avLst/>
          </a:prstGeom>
          <a:noFill/>
        </p:spPr>
        <p:txBody>
          <a:bodyPr wrap="square" lIns="0" rIns="0" tIns="0" bIns="0">
            <a:spAutoFit/>
          </a:bodyPr>
          <a:lstStyle/>
          <a:p>
            <a:pPr algn="l">
              <a:lnSpc>
                <a:spcPct val="110000"/>
              </a:lnSpc>
              <a:spcAft>
                <a:spcPts val="0"/>
              </a:spcAft>
            </a:pPr>
            <a:r>
              <a:rPr sz="1188" b="0" i="0">
                <a:solidFill>
                  <a:srgbClr val="4C5566"/>
                </a:solidFill>
                <a:latin typeface="Verdana"/>
              </a:rPr>
              <a:t>average cost
per breach</a:t>
            </a:r>
          </a:p>
        </p:txBody>
      </p:sp>
      <p:sp>
        <p:nvSpPr>
          <p:cNvPr id="64" name="TextBox 63"/>
          <p:cNvSpPr txBox="1"/>
          <p:nvPr/>
        </p:nvSpPr>
        <p:spPr>
          <a:xfrm>
            <a:off x="1280160" y="19742288"/>
            <a:ext cx="9253728" cy="460670"/>
          </a:xfrm>
          <a:prstGeom prst="rect">
            <a:avLst/>
          </a:prstGeom>
          <a:noFill/>
        </p:spPr>
        <p:txBody>
          <a:bodyPr wrap="square" lIns="0" rIns="0" tIns="0" bIns="0">
            <a:spAutoFit/>
          </a:bodyPr>
          <a:lstStyle/>
          <a:p>
            <a:pPr algn="l">
              <a:lnSpc>
                <a:spcPct val="112000"/>
              </a:lnSpc>
              <a:spcAft>
                <a:spcPts val="0"/>
              </a:spcAft>
            </a:pPr>
            <a:r>
              <a:rPr sz="1232" b="0" i="0">
                <a:solidFill>
                  <a:srgbClr val="4C5566"/>
                </a:solidFill>
                <a:latin typeface="Verdana"/>
              </a:rPr>
              <a:t>Healthcare has been the most-breached and costliest-breached sector for fourteen consecutive years. Of 410 ransomware attacks in the first half of 2026, 247 struck direct care providers.</a:t>
            </a:r>
          </a:p>
        </p:txBody>
      </p:sp>
      <p:sp>
        <p:nvSpPr>
          <p:cNvPr id="67" name="TextBox 66"/>
          <p:cNvSpPr txBox="1"/>
          <p:nvPr/>
        </p:nvSpPr>
        <p:spPr>
          <a:xfrm>
            <a:off x="11832336" y="4818888"/>
            <a:ext cx="9253728" cy="218084"/>
          </a:xfrm>
          <a:prstGeom prst="rect">
            <a:avLst/>
          </a:prstGeom>
          <a:noFill/>
        </p:spPr>
        <p:txBody>
          <a:bodyPr wrap="square" lIns="0" rIns="0" tIns="0" bIns="0">
            <a:spAutoFit/>
          </a:bodyPr>
          <a:lstStyle/>
          <a:p>
            <a:pPr algn="l">
              <a:lnSpc>
                <a:spcPct val="106000"/>
              </a:lnSpc>
              <a:spcAft>
                <a:spcPts val="0"/>
              </a:spcAft>
            </a:pPr>
            <a:r>
              <a:rPr sz="1232" b="1" i="0">
                <a:solidFill>
                  <a:srgbClr val="2B4796"/>
                </a:solidFill>
                <a:latin typeface="Verdana"/>
              </a:rPr>
              <a:t>FINDING 4 · COVERAGE ANALYSIS</a:t>
            </a:r>
          </a:p>
        </p:txBody>
      </p:sp>
      <p:sp>
        <p:nvSpPr>
          <p:cNvPr id="68" name="TextBox 67"/>
          <p:cNvSpPr txBox="1"/>
          <p:nvPr/>
        </p:nvSpPr>
        <p:spPr>
          <a:xfrm>
            <a:off x="11832336" y="5100980"/>
            <a:ext cx="9253728" cy="639637"/>
          </a:xfrm>
          <a:prstGeom prst="rect">
            <a:avLst/>
          </a:prstGeom>
          <a:noFill/>
        </p:spPr>
        <p:txBody>
          <a:bodyPr wrap="square" lIns="0" rIns="0" tIns="0" bIns="0">
            <a:spAutoFit/>
          </a:bodyPr>
          <a:lstStyle/>
          <a:p>
            <a:pPr algn="l">
              <a:lnSpc>
                <a:spcPct val="98000"/>
              </a:lnSpc>
              <a:spcAft>
                <a:spcPts val="0"/>
              </a:spcAft>
            </a:pPr>
            <a:r>
              <a:rPr sz="1955" b="1" i="0">
                <a:solidFill>
                  <a:srgbClr val="171A21"/>
                </a:solidFill>
                <a:latin typeface="Verdana"/>
              </a:rPr>
              <a:t>Each framework covers a different layer. Only one is required.</a:t>
            </a:r>
          </a:p>
        </p:txBody>
      </p:sp>
      <p:sp>
        <p:nvSpPr>
          <p:cNvPr id="69" name="TextBox 68"/>
          <p:cNvSpPr txBox="1"/>
          <p:nvPr/>
        </p:nvSpPr>
        <p:spPr>
          <a:xfrm>
            <a:off x="11832336" y="5886921"/>
            <a:ext cx="9253728" cy="218509"/>
          </a:xfrm>
          <a:prstGeom prst="rect">
            <a:avLst/>
          </a:prstGeom>
          <a:noFill/>
        </p:spPr>
        <p:txBody>
          <a:bodyPr wrap="square" lIns="0" rIns="0" tIns="0" bIns="0">
            <a:spAutoFit/>
          </a:bodyPr>
          <a:lstStyle/>
          <a:p>
            <a:pPr algn="l">
              <a:lnSpc>
                <a:spcPct val="110000"/>
              </a:lnSpc>
              <a:spcAft>
                <a:spcPts val="0"/>
              </a:spcAft>
            </a:pPr>
            <a:r>
              <a:rPr sz="1190" b="0" i="0">
                <a:solidFill>
                  <a:srgbClr val="4C5566"/>
                </a:solidFill>
                <a:latin typeface="Verdana"/>
              </a:rPr>
              <a:t>A deployed AI system has five layers. The bars show which framework governs each.</a:t>
            </a:r>
          </a:p>
        </p:txBody>
      </p:sp>
      <p:sp>
        <p:nvSpPr>
          <p:cNvPr id="70" name="Rectangle 69"/>
          <p:cNvSpPr/>
          <p:nvPr/>
        </p:nvSpPr>
        <p:spPr>
          <a:xfrm>
            <a:off x="11832336" y="6580919"/>
            <a:ext cx="315468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1996928" y="6626639"/>
            <a:ext cx="2843784" cy="188003"/>
          </a:xfrm>
          <a:prstGeom prst="rect">
            <a:avLst/>
          </a:prstGeom>
          <a:noFill/>
        </p:spPr>
        <p:txBody>
          <a:bodyPr wrap="square" lIns="0" rIns="0" tIns="0" bIns="0">
            <a:spAutoFit/>
          </a:bodyPr>
          <a:lstStyle/>
          <a:p>
            <a:pPr algn="l">
              <a:lnSpc>
                <a:spcPct val="106000"/>
              </a:lnSpc>
              <a:spcAft>
                <a:spcPts val="0"/>
              </a:spcAft>
            </a:pPr>
            <a:r>
              <a:rPr sz="1062" b="1" i="0">
                <a:solidFill>
                  <a:srgbClr val="171A21"/>
                </a:solidFill>
                <a:latin typeface="Verdana"/>
              </a:rPr>
              <a:t>USER / WORKFLOW</a:t>
            </a:r>
          </a:p>
        </p:txBody>
      </p:sp>
      <p:sp>
        <p:nvSpPr>
          <p:cNvPr id="72" name="TextBox 71"/>
          <p:cNvSpPr txBox="1"/>
          <p:nvPr/>
        </p:nvSpPr>
        <p:spPr>
          <a:xfrm>
            <a:off x="11996928" y="6846095"/>
            <a:ext cx="2843784" cy="150402"/>
          </a:xfrm>
          <a:prstGeom prst="rect">
            <a:avLst/>
          </a:prstGeom>
          <a:noFill/>
        </p:spPr>
        <p:txBody>
          <a:bodyPr wrap="square" lIns="0" rIns="0" tIns="0" bIns="0">
            <a:spAutoFit/>
          </a:bodyPr>
          <a:lstStyle/>
          <a:p>
            <a:pPr algn="l">
              <a:lnSpc>
                <a:spcPct val="106000"/>
              </a:lnSpc>
              <a:spcAft>
                <a:spcPts val="0"/>
              </a:spcAft>
            </a:pPr>
            <a:r>
              <a:rPr sz="850" b="0" i="0">
                <a:solidFill>
                  <a:srgbClr val="4C5566"/>
                </a:solidFill>
                <a:latin typeface="Verdana"/>
              </a:rPr>
              <a:t>What the clinician saw and did</a:t>
            </a:r>
          </a:p>
        </p:txBody>
      </p:sp>
      <p:sp>
        <p:nvSpPr>
          <p:cNvPr id="73" name="Rectangle 72"/>
          <p:cNvSpPr/>
          <p:nvPr/>
        </p:nvSpPr>
        <p:spPr>
          <a:xfrm>
            <a:off x="11832336" y="7092983"/>
            <a:ext cx="315468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1996928" y="7138703"/>
            <a:ext cx="2843784" cy="188003"/>
          </a:xfrm>
          <a:prstGeom prst="rect">
            <a:avLst/>
          </a:prstGeom>
          <a:noFill/>
        </p:spPr>
        <p:txBody>
          <a:bodyPr wrap="square" lIns="0" rIns="0" tIns="0" bIns="0">
            <a:spAutoFit/>
          </a:bodyPr>
          <a:lstStyle/>
          <a:p>
            <a:pPr algn="l">
              <a:lnSpc>
                <a:spcPct val="106000"/>
              </a:lnSpc>
              <a:spcAft>
                <a:spcPts val="0"/>
              </a:spcAft>
            </a:pPr>
            <a:r>
              <a:rPr sz="1062" b="1" i="0">
                <a:solidFill>
                  <a:srgbClr val="171A21"/>
                </a:solidFill>
                <a:latin typeface="Verdana"/>
              </a:rPr>
              <a:t>MODEL</a:t>
            </a:r>
          </a:p>
        </p:txBody>
      </p:sp>
      <p:sp>
        <p:nvSpPr>
          <p:cNvPr id="75" name="TextBox 74"/>
          <p:cNvSpPr txBox="1"/>
          <p:nvPr/>
        </p:nvSpPr>
        <p:spPr>
          <a:xfrm>
            <a:off x="11996928" y="7358159"/>
            <a:ext cx="2843784" cy="150402"/>
          </a:xfrm>
          <a:prstGeom prst="rect">
            <a:avLst/>
          </a:prstGeom>
          <a:noFill/>
        </p:spPr>
        <p:txBody>
          <a:bodyPr wrap="square" lIns="0" rIns="0" tIns="0" bIns="0">
            <a:spAutoFit/>
          </a:bodyPr>
          <a:lstStyle/>
          <a:p>
            <a:pPr algn="l">
              <a:lnSpc>
                <a:spcPct val="106000"/>
              </a:lnSpc>
              <a:spcAft>
                <a:spcPts val="0"/>
              </a:spcAft>
            </a:pPr>
            <a:r>
              <a:rPr sz="850" b="0" i="0">
                <a:solidFill>
                  <a:srgbClr val="4C5566"/>
                </a:solidFill>
                <a:latin typeface="Verdana"/>
              </a:rPr>
              <a:t>Is it accurate? Has it drifted?</a:t>
            </a:r>
          </a:p>
        </p:txBody>
      </p:sp>
      <p:sp>
        <p:nvSpPr>
          <p:cNvPr id="76" name="Rectangle 75"/>
          <p:cNvSpPr/>
          <p:nvPr/>
        </p:nvSpPr>
        <p:spPr>
          <a:xfrm>
            <a:off x="11832336" y="7605047"/>
            <a:ext cx="315468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1996928" y="7650767"/>
            <a:ext cx="2843784" cy="188003"/>
          </a:xfrm>
          <a:prstGeom prst="rect">
            <a:avLst/>
          </a:prstGeom>
          <a:noFill/>
        </p:spPr>
        <p:txBody>
          <a:bodyPr wrap="square" lIns="0" rIns="0" tIns="0" bIns="0">
            <a:spAutoFit/>
          </a:bodyPr>
          <a:lstStyle/>
          <a:p>
            <a:pPr algn="l">
              <a:lnSpc>
                <a:spcPct val="106000"/>
              </a:lnSpc>
              <a:spcAft>
                <a:spcPts val="0"/>
              </a:spcAft>
            </a:pPr>
            <a:r>
              <a:rPr sz="1062" b="1" i="0">
                <a:solidFill>
                  <a:srgbClr val="171A21"/>
                </a:solidFill>
                <a:latin typeface="Verdana"/>
              </a:rPr>
              <a:t>DATA</a:t>
            </a:r>
          </a:p>
        </p:txBody>
      </p:sp>
      <p:sp>
        <p:nvSpPr>
          <p:cNvPr id="78" name="TextBox 77"/>
          <p:cNvSpPr txBox="1"/>
          <p:nvPr/>
        </p:nvSpPr>
        <p:spPr>
          <a:xfrm>
            <a:off x="11996928" y="7870223"/>
            <a:ext cx="2843784" cy="150402"/>
          </a:xfrm>
          <a:prstGeom prst="rect">
            <a:avLst/>
          </a:prstGeom>
          <a:noFill/>
        </p:spPr>
        <p:txBody>
          <a:bodyPr wrap="square" lIns="0" rIns="0" tIns="0" bIns="0">
            <a:spAutoFit/>
          </a:bodyPr>
          <a:lstStyle/>
          <a:p>
            <a:pPr algn="l">
              <a:lnSpc>
                <a:spcPct val="106000"/>
              </a:lnSpc>
              <a:spcAft>
                <a:spcPts val="0"/>
              </a:spcAft>
            </a:pPr>
            <a:r>
              <a:rPr sz="850" b="0" i="0">
                <a:solidFill>
                  <a:srgbClr val="4C5566"/>
                </a:solidFill>
                <a:latin typeface="Verdana"/>
              </a:rPr>
              <a:t>Who accessed the record</a:t>
            </a:r>
          </a:p>
        </p:txBody>
      </p:sp>
      <p:sp>
        <p:nvSpPr>
          <p:cNvPr id="79" name="Rectangle 78"/>
          <p:cNvSpPr/>
          <p:nvPr/>
        </p:nvSpPr>
        <p:spPr>
          <a:xfrm>
            <a:off x="11832336" y="8117111"/>
            <a:ext cx="315468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996928" y="8162831"/>
            <a:ext cx="2843784" cy="188003"/>
          </a:xfrm>
          <a:prstGeom prst="rect">
            <a:avLst/>
          </a:prstGeom>
          <a:noFill/>
        </p:spPr>
        <p:txBody>
          <a:bodyPr wrap="square" lIns="0" rIns="0" tIns="0" bIns="0">
            <a:spAutoFit/>
          </a:bodyPr>
          <a:lstStyle/>
          <a:p>
            <a:pPr algn="l">
              <a:lnSpc>
                <a:spcPct val="106000"/>
              </a:lnSpc>
              <a:spcAft>
                <a:spcPts val="0"/>
              </a:spcAft>
            </a:pPr>
            <a:r>
              <a:rPr sz="1062" b="1" i="0">
                <a:solidFill>
                  <a:srgbClr val="171A21"/>
                </a:solidFill>
                <a:latin typeface="Verdana"/>
              </a:rPr>
              <a:t>INFRASTRUCTURE</a:t>
            </a:r>
          </a:p>
        </p:txBody>
      </p:sp>
      <p:sp>
        <p:nvSpPr>
          <p:cNvPr id="81" name="TextBox 80"/>
          <p:cNvSpPr txBox="1"/>
          <p:nvPr/>
        </p:nvSpPr>
        <p:spPr>
          <a:xfrm>
            <a:off x="11996928" y="8382287"/>
            <a:ext cx="2843784" cy="150402"/>
          </a:xfrm>
          <a:prstGeom prst="rect">
            <a:avLst/>
          </a:prstGeom>
          <a:noFill/>
        </p:spPr>
        <p:txBody>
          <a:bodyPr wrap="square" lIns="0" rIns="0" tIns="0" bIns="0">
            <a:spAutoFit/>
          </a:bodyPr>
          <a:lstStyle/>
          <a:p>
            <a:pPr algn="l">
              <a:lnSpc>
                <a:spcPct val="106000"/>
              </a:lnSpc>
              <a:spcAft>
                <a:spcPts val="0"/>
              </a:spcAft>
            </a:pPr>
            <a:r>
              <a:rPr sz="850" b="0" i="0">
                <a:solidFill>
                  <a:srgbClr val="4C5566"/>
                </a:solidFill>
                <a:latin typeface="Verdana"/>
              </a:rPr>
              <a:t>Servers, configuration, incidents</a:t>
            </a:r>
          </a:p>
        </p:txBody>
      </p:sp>
      <p:sp>
        <p:nvSpPr>
          <p:cNvPr id="82" name="Rectangle 81"/>
          <p:cNvSpPr/>
          <p:nvPr/>
        </p:nvSpPr>
        <p:spPr>
          <a:xfrm>
            <a:off x="11832336" y="8629175"/>
            <a:ext cx="3154680" cy="4480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11996928" y="8674895"/>
            <a:ext cx="2843784" cy="188003"/>
          </a:xfrm>
          <a:prstGeom prst="rect">
            <a:avLst/>
          </a:prstGeom>
          <a:noFill/>
        </p:spPr>
        <p:txBody>
          <a:bodyPr wrap="square" lIns="0" rIns="0" tIns="0" bIns="0">
            <a:spAutoFit/>
          </a:bodyPr>
          <a:lstStyle/>
          <a:p>
            <a:pPr algn="l">
              <a:lnSpc>
                <a:spcPct val="106000"/>
              </a:lnSpc>
              <a:spcAft>
                <a:spcPts val="0"/>
              </a:spcAft>
            </a:pPr>
            <a:r>
              <a:rPr sz="1062" b="1" i="0">
                <a:solidFill>
                  <a:srgbClr val="171A21"/>
                </a:solidFill>
                <a:latin typeface="Verdana"/>
              </a:rPr>
              <a:t>VENDOR</a:t>
            </a:r>
          </a:p>
        </p:txBody>
      </p:sp>
      <p:sp>
        <p:nvSpPr>
          <p:cNvPr id="84" name="TextBox 83"/>
          <p:cNvSpPr txBox="1"/>
          <p:nvPr/>
        </p:nvSpPr>
        <p:spPr>
          <a:xfrm>
            <a:off x="11996928" y="8894351"/>
            <a:ext cx="2843784" cy="150402"/>
          </a:xfrm>
          <a:prstGeom prst="rect">
            <a:avLst/>
          </a:prstGeom>
          <a:noFill/>
        </p:spPr>
        <p:txBody>
          <a:bodyPr wrap="square" lIns="0" rIns="0" tIns="0" bIns="0">
            <a:spAutoFit/>
          </a:bodyPr>
          <a:lstStyle/>
          <a:p>
            <a:pPr algn="l">
              <a:lnSpc>
                <a:spcPct val="106000"/>
              </a:lnSpc>
              <a:spcAft>
                <a:spcPts val="0"/>
              </a:spcAft>
            </a:pPr>
            <a:r>
              <a:rPr sz="850" b="0" i="0">
                <a:solidFill>
                  <a:srgbClr val="4C5566"/>
                </a:solidFill>
                <a:latin typeface="Verdana"/>
              </a:rPr>
              <a:t>Is the supplier itself trustworthy</a:t>
            </a:r>
          </a:p>
        </p:txBody>
      </p:sp>
      <p:sp>
        <p:nvSpPr>
          <p:cNvPr id="85" name="TextBox 84"/>
          <p:cNvSpPr txBox="1"/>
          <p:nvPr/>
        </p:nvSpPr>
        <p:spPr>
          <a:xfrm>
            <a:off x="15243048" y="6196871"/>
            <a:ext cx="1077163" cy="315845"/>
          </a:xfrm>
          <a:prstGeom prst="rect">
            <a:avLst/>
          </a:prstGeom>
          <a:noFill/>
        </p:spPr>
        <p:txBody>
          <a:bodyPr wrap="square" lIns="0" rIns="0" tIns="0" bIns="0">
            <a:spAutoFit/>
          </a:bodyPr>
          <a:lstStyle/>
          <a:p>
            <a:pPr algn="ctr">
              <a:lnSpc>
                <a:spcPct val="106000"/>
              </a:lnSpc>
              <a:spcAft>
                <a:spcPts val="0"/>
              </a:spcAft>
            </a:pPr>
            <a:r>
              <a:rPr sz="892" b="1" i="0">
                <a:solidFill>
                  <a:srgbClr val="A53C29"/>
                </a:solidFill>
                <a:latin typeface="Verdana"/>
              </a:rPr>
              <a:t>HIPAA
REQUIRED</a:t>
            </a:r>
          </a:p>
        </p:txBody>
      </p:sp>
      <p:sp>
        <p:nvSpPr>
          <p:cNvPr id="86" name="Rectangle 85"/>
          <p:cNvSpPr/>
          <p:nvPr/>
        </p:nvSpPr>
        <p:spPr>
          <a:xfrm>
            <a:off x="15243048" y="6580919"/>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Rectangle 86"/>
          <p:cNvSpPr/>
          <p:nvPr/>
        </p:nvSpPr>
        <p:spPr>
          <a:xfrm>
            <a:off x="15243048" y="7092983"/>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Rectangle 87"/>
          <p:cNvSpPr/>
          <p:nvPr/>
        </p:nvSpPr>
        <p:spPr>
          <a:xfrm>
            <a:off x="15243048" y="7605047"/>
            <a:ext cx="1077163" cy="448056"/>
          </a:xfrm>
          <a:prstGeom prst="rect">
            <a:avLst/>
          </a:prstGeom>
          <a:solidFill>
            <a:srgbClr val="A53C2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15243048" y="7742207"/>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90" name="Rectangle 89"/>
          <p:cNvSpPr/>
          <p:nvPr/>
        </p:nvSpPr>
        <p:spPr>
          <a:xfrm>
            <a:off x="15243048" y="8117111"/>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Rectangle 90"/>
          <p:cNvSpPr/>
          <p:nvPr/>
        </p:nvSpPr>
        <p:spPr>
          <a:xfrm>
            <a:off x="15243048" y="8629175"/>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6411651" y="6196871"/>
            <a:ext cx="1077163" cy="315845"/>
          </a:xfrm>
          <a:prstGeom prst="rect">
            <a:avLst/>
          </a:prstGeom>
          <a:noFill/>
        </p:spPr>
        <p:txBody>
          <a:bodyPr wrap="square" lIns="0" rIns="0" tIns="0" bIns="0">
            <a:spAutoFit/>
          </a:bodyPr>
          <a:lstStyle/>
          <a:p>
            <a:pPr algn="ctr">
              <a:lnSpc>
                <a:spcPct val="106000"/>
              </a:lnSpc>
              <a:spcAft>
                <a:spcPts val="0"/>
              </a:spcAft>
            </a:pPr>
            <a:r>
              <a:rPr sz="892" b="1" i="0">
                <a:solidFill>
                  <a:srgbClr val="4C5566"/>
                </a:solidFill>
                <a:latin typeface="Verdana"/>
              </a:rPr>
              <a:t>FedRAMP /
NIST 800-53</a:t>
            </a:r>
          </a:p>
        </p:txBody>
      </p:sp>
      <p:sp>
        <p:nvSpPr>
          <p:cNvPr id="93" name="Rectangle 92"/>
          <p:cNvSpPr/>
          <p:nvPr/>
        </p:nvSpPr>
        <p:spPr>
          <a:xfrm>
            <a:off x="16411651" y="6580919"/>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ectangle 93"/>
          <p:cNvSpPr/>
          <p:nvPr/>
        </p:nvSpPr>
        <p:spPr>
          <a:xfrm>
            <a:off x="16411651" y="7092983"/>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ectangle 94"/>
          <p:cNvSpPr/>
          <p:nvPr/>
        </p:nvSpPr>
        <p:spPr>
          <a:xfrm>
            <a:off x="16411651" y="7605047"/>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ectangle 95"/>
          <p:cNvSpPr/>
          <p:nvPr/>
        </p:nvSpPr>
        <p:spPr>
          <a:xfrm>
            <a:off x="16411651" y="8117111"/>
            <a:ext cx="1077163" cy="448056"/>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16411651" y="8254271"/>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98" name="Rectangle 97"/>
          <p:cNvSpPr/>
          <p:nvPr/>
        </p:nvSpPr>
        <p:spPr>
          <a:xfrm>
            <a:off x="16411651" y="8629175"/>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17580254" y="6196871"/>
            <a:ext cx="1077163" cy="157922"/>
          </a:xfrm>
          <a:prstGeom prst="rect">
            <a:avLst/>
          </a:prstGeom>
          <a:noFill/>
        </p:spPr>
        <p:txBody>
          <a:bodyPr wrap="square" lIns="0" rIns="0" tIns="0" bIns="0">
            <a:spAutoFit/>
          </a:bodyPr>
          <a:lstStyle/>
          <a:p>
            <a:pPr algn="ctr">
              <a:lnSpc>
                <a:spcPct val="106000"/>
              </a:lnSpc>
              <a:spcAft>
                <a:spcPts val="0"/>
              </a:spcAft>
            </a:pPr>
            <a:r>
              <a:rPr sz="892" b="1" i="0">
                <a:solidFill>
                  <a:srgbClr val="4C5566"/>
                </a:solidFill>
                <a:latin typeface="Verdana"/>
              </a:rPr>
              <a:t>SOC 2</a:t>
            </a:r>
          </a:p>
        </p:txBody>
      </p:sp>
      <p:sp>
        <p:nvSpPr>
          <p:cNvPr id="100" name="Rectangle 99"/>
          <p:cNvSpPr/>
          <p:nvPr/>
        </p:nvSpPr>
        <p:spPr>
          <a:xfrm>
            <a:off x="17580254" y="6580919"/>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7580254" y="7092983"/>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7580254" y="7605047"/>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7580254" y="8117111"/>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Rectangle 103"/>
          <p:cNvSpPr/>
          <p:nvPr/>
        </p:nvSpPr>
        <p:spPr>
          <a:xfrm>
            <a:off x="17580254" y="8629175"/>
            <a:ext cx="1077163" cy="448056"/>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17580254" y="8766335"/>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106" name="TextBox 105"/>
          <p:cNvSpPr txBox="1"/>
          <p:nvPr/>
        </p:nvSpPr>
        <p:spPr>
          <a:xfrm>
            <a:off x="18748857" y="6196871"/>
            <a:ext cx="1077163" cy="315845"/>
          </a:xfrm>
          <a:prstGeom prst="rect">
            <a:avLst/>
          </a:prstGeom>
          <a:noFill/>
        </p:spPr>
        <p:txBody>
          <a:bodyPr wrap="square" lIns="0" rIns="0" tIns="0" bIns="0">
            <a:spAutoFit/>
          </a:bodyPr>
          <a:lstStyle/>
          <a:p>
            <a:pPr algn="ctr">
              <a:lnSpc>
                <a:spcPct val="106000"/>
              </a:lnSpc>
              <a:spcAft>
                <a:spcPts val="0"/>
              </a:spcAft>
            </a:pPr>
            <a:r>
              <a:rPr sz="892" b="1" i="0">
                <a:solidFill>
                  <a:srgbClr val="4C5566"/>
                </a:solidFill>
                <a:latin typeface="Verdana"/>
              </a:rPr>
              <a:t>ISO 42001 /
NIST AI RMF</a:t>
            </a:r>
          </a:p>
        </p:txBody>
      </p:sp>
      <p:sp>
        <p:nvSpPr>
          <p:cNvPr id="107" name="Rectangle 106"/>
          <p:cNvSpPr/>
          <p:nvPr/>
        </p:nvSpPr>
        <p:spPr>
          <a:xfrm>
            <a:off x="18748857" y="6580919"/>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Rectangle 107"/>
          <p:cNvSpPr/>
          <p:nvPr/>
        </p:nvSpPr>
        <p:spPr>
          <a:xfrm>
            <a:off x="18748857" y="7092983"/>
            <a:ext cx="1077163" cy="448056"/>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p:cNvSpPr txBox="1"/>
          <p:nvPr/>
        </p:nvSpPr>
        <p:spPr>
          <a:xfrm>
            <a:off x="18748857" y="7230143"/>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110" name="Rectangle 109"/>
          <p:cNvSpPr/>
          <p:nvPr/>
        </p:nvSpPr>
        <p:spPr>
          <a:xfrm>
            <a:off x="18748857" y="7605047"/>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Rectangle 110"/>
          <p:cNvSpPr/>
          <p:nvPr/>
        </p:nvSpPr>
        <p:spPr>
          <a:xfrm>
            <a:off x="18748857" y="8117111"/>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Rectangle 111"/>
          <p:cNvSpPr/>
          <p:nvPr/>
        </p:nvSpPr>
        <p:spPr>
          <a:xfrm>
            <a:off x="18748857" y="8629175"/>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TextBox 112"/>
          <p:cNvSpPr txBox="1"/>
          <p:nvPr/>
        </p:nvSpPr>
        <p:spPr>
          <a:xfrm>
            <a:off x="19917460" y="6196871"/>
            <a:ext cx="1077163" cy="315845"/>
          </a:xfrm>
          <a:prstGeom prst="rect">
            <a:avLst/>
          </a:prstGeom>
          <a:noFill/>
        </p:spPr>
        <p:txBody>
          <a:bodyPr wrap="square" lIns="0" rIns="0" tIns="0" bIns="0">
            <a:spAutoFit/>
          </a:bodyPr>
          <a:lstStyle/>
          <a:p>
            <a:pPr algn="ctr">
              <a:lnSpc>
                <a:spcPct val="106000"/>
              </a:lnSpc>
              <a:spcAft>
                <a:spcPts val="0"/>
              </a:spcAft>
            </a:pPr>
            <a:r>
              <a:rPr sz="892" b="1" i="0">
                <a:solidFill>
                  <a:srgbClr val="4C5566"/>
                </a:solidFill>
                <a:latin typeface="Verdana"/>
              </a:rPr>
              <a:t>2026 AI
certifications</a:t>
            </a:r>
          </a:p>
        </p:txBody>
      </p:sp>
      <p:sp>
        <p:nvSpPr>
          <p:cNvPr id="114" name="Rectangle 113"/>
          <p:cNvSpPr/>
          <p:nvPr/>
        </p:nvSpPr>
        <p:spPr>
          <a:xfrm>
            <a:off x="19917460" y="6580919"/>
            <a:ext cx="1077163" cy="448056"/>
          </a:xfrm>
          <a:prstGeom prst="rect">
            <a:avLst/>
          </a:prstGeom>
          <a:solidFill>
            <a:srgbClr val="8E6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19917460" y="6718079"/>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116" name="Rectangle 115"/>
          <p:cNvSpPr/>
          <p:nvPr/>
        </p:nvSpPr>
        <p:spPr>
          <a:xfrm>
            <a:off x="19917460" y="7092983"/>
            <a:ext cx="1077163" cy="448056"/>
          </a:xfrm>
          <a:prstGeom prst="rect">
            <a:avLst/>
          </a:prstGeom>
          <a:solidFill>
            <a:srgbClr val="8E621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TextBox 116"/>
          <p:cNvSpPr txBox="1"/>
          <p:nvPr/>
        </p:nvSpPr>
        <p:spPr>
          <a:xfrm>
            <a:off x="19917460" y="7230143"/>
            <a:ext cx="1077163" cy="142882"/>
          </a:xfrm>
          <a:prstGeom prst="rect">
            <a:avLst/>
          </a:prstGeom>
          <a:noFill/>
        </p:spPr>
        <p:txBody>
          <a:bodyPr wrap="square" lIns="0" rIns="0" tIns="0" bIns="0">
            <a:spAutoFit/>
          </a:bodyPr>
          <a:lstStyle/>
          <a:p>
            <a:pPr algn="ctr">
              <a:lnSpc>
                <a:spcPct val="106000"/>
              </a:lnSpc>
              <a:spcAft>
                <a:spcPts val="0"/>
              </a:spcAft>
            </a:pPr>
            <a:r>
              <a:rPr sz="807" b="1" i="0">
                <a:solidFill>
                  <a:srgbClr val="FFFFFF"/>
                </a:solidFill>
                <a:latin typeface="Verdana"/>
              </a:rPr>
              <a:t>COVERED</a:t>
            </a:r>
          </a:p>
        </p:txBody>
      </p:sp>
      <p:sp>
        <p:nvSpPr>
          <p:cNvPr id="118" name="Rectangle 117"/>
          <p:cNvSpPr/>
          <p:nvPr/>
        </p:nvSpPr>
        <p:spPr>
          <a:xfrm>
            <a:off x="19917460" y="7605047"/>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Rectangle 118"/>
          <p:cNvSpPr/>
          <p:nvPr/>
        </p:nvSpPr>
        <p:spPr>
          <a:xfrm>
            <a:off x="19917460" y="8117111"/>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Rectangle 119"/>
          <p:cNvSpPr/>
          <p:nvPr/>
        </p:nvSpPr>
        <p:spPr>
          <a:xfrm>
            <a:off x="19917460" y="8629175"/>
            <a:ext cx="1077163" cy="448056"/>
          </a:xfrm>
          <a:prstGeom prst="rect">
            <a:avLst/>
          </a:prstGeom>
          <a:solidFill>
            <a:srgbClr val="F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11832336" y="9250967"/>
            <a:ext cx="9253728" cy="715122"/>
          </a:xfrm>
          <a:prstGeom prst="rect">
            <a:avLst/>
          </a:prstGeom>
          <a:noFill/>
        </p:spPr>
        <p:txBody>
          <a:bodyPr wrap="square" lIns="0" rIns="0" tIns="0" bIns="0">
            <a:spAutoFit/>
          </a:bodyPr>
          <a:lstStyle/>
          <a:p>
            <a:pPr algn="l">
              <a:lnSpc>
                <a:spcPct val="112000"/>
              </a:lnSpc>
              <a:spcAft>
                <a:spcPts val="0"/>
              </a:spcAft>
            </a:pPr>
            <a:r>
              <a:rPr sz="1275" b="0" i="0">
                <a:solidFill>
                  <a:srgbClr val="171A21"/>
                </a:solidFill>
                <a:latin typeface="Verdana"/>
              </a:rPr>
              <a:t>Only the </a:t>
            </a:r>
            <a:r>
              <a:rPr sz="1275" b="1" i="0">
                <a:solidFill>
                  <a:srgbClr val="171A21"/>
                </a:solidFill>
                <a:latin typeface="Verdana"/>
              </a:rPr>
              <a:t>HIPAA</a:t>
            </a:r>
            <a:r>
              <a:rPr sz="1275" b="0" i="0">
                <a:solidFill>
                  <a:srgbClr val="171A21"/>
                </a:solidFill>
                <a:latin typeface="Verdana"/>
              </a:rPr>
              <a:t> column is mandatory — and it covers one band, the data layer. </a:t>
            </a:r>
            <a:r>
              <a:rPr sz="1275" b="1" i="0">
                <a:solidFill>
                  <a:srgbClr val="171A21"/>
                </a:solidFill>
                <a:latin typeface="Verdana"/>
              </a:rPr>
              <a:t>The model layer, where AI risk actually lives, is governed only by frameworks nobody is required to hold.</a:t>
            </a:r>
          </a:p>
        </p:txBody>
      </p:sp>
      <p:sp>
        <p:nvSpPr>
          <p:cNvPr id="124" name="TextBox 123"/>
          <p:cNvSpPr txBox="1"/>
          <p:nvPr/>
        </p:nvSpPr>
        <p:spPr>
          <a:xfrm>
            <a:off x="11832336" y="10715898"/>
            <a:ext cx="9253728" cy="218084"/>
          </a:xfrm>
          <a:prstGeom prst="rect">
            <a:avLst/>
          </a:prstGeom>
          <a:noFill/>
        </p:spPr>
        <p:txBody>
          <a:bodyPr wrap="square" lIns="0" rIns="0" tIns="0" bIns="0">
            <a:spAutoFit/>
          </a:bodyPr>
          <a:lstStyle/>
          <a:p>
            <a:pPr algn="l">
              <a:lnSpc>
                <a:spcPct val="106000"/>
              </a:lnSpc>
              <a:spcAft>
                <a:spcPts val="0"/>
              </a:spcAft>
            </a:pPr>
            <a:r>
              <a:rPr sz="1232" b="1" i="0">
                <a:solidFill>
                  <a:srgbClr val="2F6B48"/>
                </a:solidFill>
                <a:latin typeface="Verdana"/>
              </a:rPr>
              <a:t>FINDING 5 · WHAT CHANGED IN 2026</a:t>
            </a:r>
          </a:p>
        </p:txBody>
      </p:sp>
      <p:sp>
        <p:nvSpPr>
          <p:cNvPr id="125" name="TextBox 124"/>
          <p:cNvSpPr txBox="1"/>
          <p:nvPr/>
        </p:nvSpPr>
        <p:spPr>
          <a:xfrm>
            <a:off x="11832336" y="10997990"/>
            <a:ext cx="9253728" cy="611827"/>
          </a:xfrm>
          <a:prstGeom prst="rect">
            <a:avLst/>
          </a:prstGeom>
          <a:noFill/>
        </p:spPr>
        <p:txBody>
          <a:bodyPr wrap="square" lIns="0" rIns="0" tIns="0" bIns="0">
            <a:spAutoFit/>
          </a:bodyPr>
          <a:lstStyle/>
          <a:p>
            <a:pPr algn="l">
              <a:lnSpc>
                <a:spcPct val="98000"/>
              </a:lnSpc>
              <a:spcAft>
                <a:spcPts val="0"/>
              </a:spcAft>
            </a:pPr>
            <a:r>
              <a:rPr sz="1870" b="1" i="0">
                <a:solidFill>
                  <a:srgbClr val="171A21"/>
                </a:solidFill>
                <a:latin typeface="Verdana"/>
              </a:rPr>
              <a:t>Three AI certifications launched. All say monitor. None says how.</a:t>
            </a:r>
          </a:p>
        </p:txBody>
      </p:sp>
      <p:sp>
        <p:nvSpPr>
          <p:cNvPr id="126" name="TextBox 125"/>
          <p:cNvSpPr txBox="1"/>
          <p:nvPr/>
        </p:nvSpPr>
        <p:spPr>
          <a:xfrm>
            <a:off x="11868911" y="11774410"/>
            <a:ext cx="1600200" cy="180483"/>
          </a:xfrm>
          <a:prstGeom prst="rect">
            <a:avLst/>
          </a:prstGeom>
          <a:noFill/>
        </p:spPr>
        <p:txBody>
          <a:bodyPr wrap="square" lIns="0" rIns="0" tIns="0" bIns="0">
            <a:spAutoFit/>
          </a:bodyPr>
          <a:lstStyle/>
          <a:p>
            <a:pPr algn="l">
              <a:lnSpc>
                <a:spcPct val="106000"/>
              </a:lnSpc>
              <a:spcAft>
                <a:spcPts val="0"/>
              </a:spcAft>
            </a:pPr>
            <a:r>
              <a:rPr sz="1019" b="1" i="0">
                <a:solidFill>
                  <a:srgbClr val="2F6B48"/>
                </a:solidFill>
                <a:latin typeface="Verdana"/>
              </a:rPr>
              <a:t>MAY 2026</a:t>
            </a:r>
          </a:p>
        </p:txBody>
      </p:sp>
      <p:sp>
        <p:nvSpPr>
          <p:cNvPr id="127" name="TextBox 126"/>
          <p:cNvSpPr txBox="1"/>
          <p:nvPr/>
        </p:nvSpPr>
        <p:spPr>
          <a:xfrm>
            <a:off x="13587984" y="11756122"/>
            <a:ext cx="7424928" cy="437019"/>
          </a:xfrm>
          <a:prstGeom prst="rect">
            <a:avLst/>
          </a:prstGeom>
          <a:noFill/>
        </p:spPr>
        <p:txBody>
          <a:bodyPr wrap="square" lIns="0" rIns="0" tIns="0" bIns="0">
            <a:spAutoFit/>
          </a:bodyPr>
          <a:lstStyle/>
          <a:p>
            <a:pPr algn="l">
              <a:lnSpc>
                <a:spcPct val="110000"/>
              </a:lnSpc>
              <a:spcAft>
                <a:spcPts val="0"/>
              </a:spcAft>
            </a:pPr>
            <a:r>
              <a:rPr sz="1190" b="0" i="0">
                <a:solidFill>
                  <a:srgbClr val="171A21"/>
                </a:solidFill>
                <a:latin typeface="Verdana"/>
              </a:rPr>
              <a:t>A health-AI coalition published free governance control catalogs — eight elements, 150+ contributors</a:t>
            </a:r>
          </a:p>
        </p:txBody>
      </p:sp>
      <p:sp>
        <p:nvSpPr>
          <p:cNvPr id="128" name="TextBox 127"/>
          <p:cNvSpPr txBox="1"/>
          <p:nvPr/>
        </p:nvSpPr>
        <p:spPr>
          <a:xfrm>
            <a:off x="11868911" y="12302869"/>
            <a:ext cx="1600200" cy="180483"/>
          </a:xfrm>
          <a:prstGeom prst="rect">
            <a:avLst/>
          </a:prstGeom>
          <a:noFill/>
        </p:spPr>
        <p:txBody>
          <a:bodyPr wrap="square" lIns="0" rIns="0" tIns="0" bIns="0">
            <a:spAutoFit/>
          </a:bodyPr>
          <a:lstStyle/>
          <a:p>
            <a:pPr algn="l">
              <a:lnSpc>
                <a:spcPct val="106000"/>
              </a:lnSpc>
              <a:spcAft>
                <a:spcPts val="0"/>
              </a:spcAft>
            </a:pPr>
            <a:r>
              <a:rPr sz="1019" b="1" i="0">
                <a:solidFill>
                  <a:srgbClr val="2F6B48"/>
                </a:solidFill>
                <a:latin typeface="Verdana"/>
              </a:rPr>
              <a:t>JUNE 2026</a:t>
            </a:r>
          </a:p>
        </p:txBody>
      </p:sp>
      <p:sp>
        <p:nvSpPr>
          <p:cNvPr id="129" name="TextBox 128"/>
          <p:cNvSpPr txBox="1"/>
          <p:nvPr/>
        </p:nvSpPr>
        <p:spPr>
          <a:xfrm>
            <a:off x="13587984" y="12284581"/>
            <a:ext cx="7424928" cy="437019"/>
          </a:xfrm>
          <a:prstGeom prst="rect">
            <a:avLst/>
          </a:prstGeom>
          <a:noFill/>
        </p:spPr>
        <p:txBody>
          <a:bodyPr wrap="square" lIns="0" rIns="0" tIns="0" bIns="0">
            <a:spAutoFit/>
          </a:bodyPr>
          <a:lstStyle/>
          <a:p>
            <a:pPr algn="l">
              <a:lnSpc>
                <a:spcPct val="110000"/>
              </a:lnSpc>
              <a:spcAft>
                <a:spcPts val="0"/>
              </a:spcAft>
            </a:pPr>
            <a:r>
              <a:rPr sz="1190" b="0" i="0">
                <a:solidFill>
                  <a:srgbClr val="171A21"/>
                </a:solidFill>
                <a:latin typeface="Verdana"/>
              </a:rPr>
              <a:t>Two national accreditors launched voluntary, fee-based AI certifications — covering ongoing monitoring, drift and oversight</a:t>
            </a:r>
          </a:p>
        </p:txBody>
      </p:sp>
      <p:sp>
        <p:nvSpPr>
          <p:cNvPr id="130" name="TextBox 129"/>
          <p:cNvSpPr txBox="1"/>
          <p:nvPr/>
        </p:nvSpPr>
        <p:spPr>
          <a:xfrm>
            <a:off x="11868911" y="12831329"/>
            <a:ext cx="1600200" cy="180483"/>
          </a:xfrm>
          <a:prstGeom prst="rect">
            <a:avLst/>
          </a:prstGeom>
          <a:noFill/>
        </p:spPr>
        <p:txBody>
          <a:bodyPr wrap="square" lIns="0" rIns="0" tIns="0" bIns="0">
            <a:spAutoFit/>
          </a:bodyPr>
          <a:lstStyle/>
          <a:p>
            <a:pPr algn="l">
              <a:lnSpc>
                <a:spcPct val="106000"/>
              </a:lnSpc>
              <a:spcAft>
                <a:spcPts val="0"/>
              </a:spcAft>
            </a:pPr>
            <a:r>
              <a:rPr sz="1019" b="1" i="0">
                <a:solidFill>
                  <a:srgbClr val="2F6B48"/>
                </a:solidFill>
                <a:latin typeface="Verdana"/>
              </a:rPr>
              <a:t>FEB 2026</a:t>
            </a:r>
          </a:p>
        </p:txBody>
      </p:sp>
      <p:sp>
        <p:nvSpPr>
          <p:cNvPr id="131" name="TextBox 130"/>
          <p:cNvSpPr txBox="1"/>
          <p:nvPr/>
        </p:nvSpPr>
        <p:spPr>
          <a:xfrm>
            <a:off x="13587984" y="12813041"/>
            <a:ext cx="7424928" cy="437019"/>
          </a:xfrm>
          <a:prstGeom prst="rect">
            <a:avLst/>
          </a:prstGeom>
          <a:noFill/>
        </p:spPr>
        <p:txBody>
          <a:bodyPr wrap="square" lIns="0" rIns="0" tIns="0" bIns="0">
            <a:spAutoFit/>
          </a:bodyPr>
          <a:lstStyle/>
          <a:p>
            <a:pPr algn="l">
              <a:lnSpc>
                <a:spcPct val="110000"/>
              </a:lnSpc>
              <a:spcAft>
                <a:spcPts val="0"/>
              </a:spcAft>
            </a:pPr>
            <a:r>
              <a:rPr sz="1190" b="0" i="0">
                <a:solidFill>
                  <a:srgbClr val="171A21"/>
                </a:solidFill>
                <a:latin typeface="Verdana"/>
              </a:rPr>
              <a:t>A peer-reviewed AI governance maturity model was published — five levels, seven domains</a:t>
            </a:r>
          </a:p>
        </p:txBody>
      </p:sp>
      <p:sp>
        <p:nvSpPr>
          <p:cNvPr id="132" name="TextBox 131"/>
          <p:cNvSpPr txBox="1"/>
          <p:nvPr/>
        </p:nvSpPr>
        <p:spPr>
          <a:xfrm>
            <a:off x="12124944" y="13469517"/>
            <a:ext cx="8668512" cy="524423"/>
          </a:xfrm>
          <a:prstGeom prst="rect">
            <a:avLst/>
          </a:prstGeom>
          <a:noFill/>
        </p:spPr>
        <p:txBody>
          <a:bodyPr wrap="square" lIns="0" rIns="0" tIns="0" bIns="0">
            <a:spAutoFit/>
          </a:bodyPr>
          <a:lstStyle/>
          <a:p>
            <a:pPr algn="l">
              <a:lnSpc>
                <a:spcPct val="112000"/>
              </a:lnSpc>
              <a:spcAft>
                <a:spcPts val="0"/>
              </a:spcAft>
            </a:pPr>
            <a:r>
              <a:rPr sz="1402" b="1" i="0">
                <a:solidFill>
                  <a:srgbClr val="A53C29"/>
                </a:solidFill>
                <a:latin typeface="Verdana"/>
              </a:rPr>
              <a:t>Every one of them requires organizations to monitor their AI. None specifies how the monitoring data is captured.</a:t>
            </a:r>
          </a:p>
        </p:txBody>
      </p:sp>
      <p:sp>
        <p:nvSpPr>
          <p:cNvPr id="137" name="TextBox 136"/>
          <p:cNvSpPr txBox="1"/>
          <p:nvPr/>
        </p:nvSpPr>
        <p:spPr>
          <a:xfrm>
            <a:off x="11832336" y="14926628"/>
            <a:ext cx="9253728" cy="218084"/>
          </a:xfrm>
          <a:prstGeom prst="rect">
            <a:avLst/>
          </a:prstGeom>
          <a:noFill/>
        </p:spPr>
        <p:txBody>
          <a:bodyPr wrap="square" lIns="0" rIns="0" tIns="0" bIns="0">
            <a:spAutoFit/>
          </a:bodyPr>
          <a:lstStyle/>
          <a:p>
            <a:pPr algn="l">
              <a:lnSpc>
                <a:spcPct val="106000"/>
              </a:lnSpc>
              <a:spcAft>
                <a:spcPts val="0"/>
              </a:spcAft>
            </a:pPr>
            <a:r>
              <a:rPr sz="1232" b="1" i="0">
                <a:solidFill>
                  <a:srgbClr val="2B4796"/>
                </a:solidFill>
                <a:latin typeface="Verdana"/>
              </a:rPr>
              <a:t>THE PROPOSAL</a:t>
            </a:r>
          </a:p>
        </p:txBody>
      </p:sp>
      <p:sp>
        <p:nvSpPr>
          <p:cNvPr id="138" name="TextBox 137"/>
          <p:cNvSpPr txBox="1"/>
          <p:nvPr/>
        </p:nvSpPr>
        <p:spPr>
          <a:xfrm>
            <a:off x="11832336" y="15208720"/>
            <a:ext cx="9253728" cy="611827"/>
          </a:xfrm>
          <a:prstGeom prst="rect">
            <a:avLst/>
          </a:prstGeom>
          <a:noFill/>
        </p:spPr>
        <p:txBody>
          <a:bodyPr wrap="square" lIns="0" rIns="0" tIns="0" bIns="0">
            <a:spAutoFit/>
          </a:bodyPr>
          <a:lstStyle/>
          <a:p>
            <a:pPr algn="l">
              <a:lnSpc>
                <a:spcPct val="98000"/>
              </a:lnSpc>
              <a:spcAft>
                <a:spcPts val="0"/>
              </a:spcAft>
            </a:pPr>
            <a:r>
              <a:rPr sz="1870" b="1" i="0">
                <a:solidFill>
                  <a:srgbClr val="171A21"/>
                </a:solidFill>
                <a:latin typeface="Verdana"/>
              </a:rPr>
              <a:t>Record every AI interaction once. Answer every framework from that record.</a:t>
            </a:r>
          </a:p>
        </p:txBody>
      </p:sp>
      <p:sp>
        <p:nvSpPr>
          <p:cNvPr id="139" name="TextBox 138"/>
          <p:cNvSpPr txBox="1"/>
          <p:nvPr/>
        </p:nvSpPr>
        <p:spPr>
          <a:xfrm>
            <a:off x="11832336" y="15966852"/>
            <a:ext cx="2880360" cy="172963"/>
          </a:xfrm>
          <a:prstGeom prst="rect">
            <a:avLst/>
          </a:prstGeom>
          <a:noFill/>
        </p:spPr>
        <p:txBody>
          <a:bodyPr wrap="square" lIns="0" rIns="0" tIns="0" bIns="0">
            <a:spAutoFit/>
          </a:bodyPr>
          <a:lstStyle/>
          <a:p>
            <a:pPr algn="l">
              <a:lnSpc>
                <a:spcPct val="106000"/>
              </a:lnSpc>
              <a:spcAft>
                <a:spcPts val="0"/>
              </a:spcAft>
            </a:pPr>
            <a:r>
              <a:rPr sz="977" b="1" i="0">
                <a:solidFill>
                  <a:srgbClr val="2B4796"/>
                </a:solidFill>
                <a:latin typeface="Verdana"/>
              </a:rPr>
              <a:t>1 · HOW YOU COLLECT IT</a:t>
            </a:r>
          </a:p>
        </p:txBody>
      </p:sp>
      <p:sp>
        <p:nvSpPr>
          <p:cNvPr id="140" name="TextBox 139"/>
          <p:cNvSpPr txBox="1"/>
          <p:nvPr/>
        </p:nvSpPr>
        <p:spPr>
          <a:xfrm>
            <a:off x="11832336" y="16186308"/>
            <a:ext cx="2880360" cy="165443"/>
          </a:xfrm>
          <a:prstGeom prst="rect">
            <a:avLst/>
          </a:prstGeom>
          <a:noFill/>
        </p:spPr>
        <p:txBody>
          <a:bodyPr wrap="square" lIns="0" rIns="0" tIns="0" bIns="0">
            <a:spAutoFit/>
          </a:bodyPr>
          <a:lstStyle/>
          <a:p>
            <a:pPr algn="l">
              <a:lnSpc>
                <a:spcPct val="106000"/>
              </a:lnSpc>
              <a:spcAft>
                <a:spcPts val="0"/>
              </a:spcAft>
            </a:pPr>
            <a:r>
              <a:rPr sz="935" b="0" i="0">
                <a:solidFill>
                  <a:srgbClr val="4C5566"/>
                </a:solidFill>
                <a:latin typeface="Verdana"/>
              </a:rPr>
              <a:t>Six options. Pick by budget.</a:t>
            </a:r>
          </a:p>
        </p:txBody>
      </p:sp>
      <p:sp>
        <p:nvSpPr>
          <p:cNvPr id="141" name="Rectangle 140"/>
          <p:cNvSpPr/>
          <p:nvPr/>
        </p:nvSpPr>
        <p:spPr>
          <a:xfrm>
            <a:off x="11832336" y="16424052"/>
            <a:ext cx="2880360" cy="484632"/>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Rectangle 141"/>
          <p:cNvSpPr/>
          <p:nvPr/>
        </p:nvSpPr>
        <p:spPr>
          <a:xfrm>
            <a:off x="11832336" y="16424052"/>
            <a:ext cx="45720" cy="484632"/>
          </a:xfrm>
          <a:prstGeom prst="rect">
            <a:avLst/>
          </a:prstGeom>
          <a:solidFill>
            <a:srgbClr val="8A93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TextBox 142"/>
          <p:cNvSpPr txBox="1"/>
          <p:nvPr/>
        </p:nvSpPr>
        <p:spPr>
          <a:xfrm>
            <a:off x="12033504" y="16552068"/>
            <a:ext cx="2606040" cy="195523"/>
          </a:xfrm>
          <a:prstGeom prst="rect">
            <a:avLst/>
          </a:prstGeom>
          <a:noFill/>
        </p:spPr>
        <p:txBody>
          <a:bodyPr wrap="square" lIns="0" rIns="0" tIns="0" bIns="0">
            <a:spAutoFit/>
          </a:bodyPr>
          <a:lstStyle/>
          <a:p>
            <a:pPr algn="l">
              <a:lnSpc>
                <a:spcPct val="106000"/>
              </a:lnSpc>
              <a:spcAft>
                <a:spcPts val="0"/>
              </a:spcAft>
            </a:pPr>
            <a:r>
              <a:rPr sz="1105" b="1" i="0">
                <a:solidFill>
                  <a:srgbClr val="4C5566"/>
                </a:solidFill>
                <a:latin typeface="Verdana"/>
              </a:rPr>
              <a:t>A   </a:t>
            </a:r>
            <a:r>
              <a:rPr sz="1105" b="0" i="0">
                <a:solidFill>
                  <a:srgbClr val="171A21"/>
                </a:solidFill>
                <a:latin typeface="Verdana"/>
              </a:rPr>
              <a:t>Wrap the AI call</a:t>
            </a:r>
          </a:p>
        </p:txBody>
      </p:sp>
      <p:sp>
        <p:nvSpPr>
          <p:cNvPr id="144" name="Rectangle 143"/>
          <p:cNvSpPr/>
          <p:nvPr/>
        </p:nvSpPr>
        <p:spPr>
          <a:xfrm>
            <a:off x="11832336" y="16954404"/>
            <a:ext cx="2880360" cy="484632"/>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Rectangle 144"/>
          <p:cNvSpPr/>
          <p:nvPr/>
        </p:nvSpPr>
        <p:spPr>
          <a:xfrm>
            <a:off x="11832336" y="16954404"/>
            <a:ext cx="45720" cy="484632"/>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TextBox 145"/>
          <p:cNvSpPr txBox="1"/>
          <p:nvPr/>
        </p:nvSpPr>
        <p:spPr>
          <a:xfrm>
            <a:off x="12033504" y="17082420"/>
            <a:ext cx="2606040" cy="391047"/>
          </a:xfrm>
          <a:prstGeom prst="rect">
            <a:avLst/>
          </a:prstGeom>
          <a:noFill/>
        </p:spPr>
        <p:txBody>
          <a:bodyPr wrap="square" lIns="0" rIns="0" tIns="0" bIns="0">
            <a:spAutoFit/>
          </a:bodyPr>
          <a:lstStyle/>
          <a:p>
            <a:pPr algn="l">
              <a:lnSpc>
                <a:spcPct val="106000"/>
              </a:lnSpc>
              <a:spcAft>
                <a:spcPts val="0"/>
              </a:spcAft>
            </a:pPr>
            <a:r>
              <a:rPr sz="1105" b="1" i="0">
                <a:solidFill>
                  <a:srgbClr val="2F6B48"/>
                </a:solidFill>
                <a:latin typeface="Verdana"/>
              </a:rPr>
              <a:t>B   </a:t>
            </a:r>
            <a:r>
              <a:rPr sz="1105" b="0" i="0">
                <a:solidFill>
                  <a:srgbClr val="171A21"/>
                </a:solidFill>
                <a:latin typeface="Verdana"/>
              </a:rPr>
              <a:t>Read logs you already keep</a:t>
            </a:r>
          </a:p>
        </p:txBody>
      </p:sp>
      <p:sp>
        <p:nvSpPr>
          <p:cNvPr id="147" name="Rectangle 146"/>
          <p:cNvSpPr/>
          <p:nvPr/>
        </p:nvSpPr>
        <p:spPr>
          <a:xfrm>
            <a:off x="11832336" y="17484756"/>
            <a:ext cx="2880360" cy="484632"/>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Rectangle 147"/>
          <p:cNvSpPr/>
          <p:nvPr/>
        </p:nvSpPr>
        <p:spPr>
          <a:xfrm>
            <a:off x="11832336" y="17484756"/>
            <a:ext cx="45720" cy="484632"/>
          </a:xfrm>
          <a:prstGeom prst="rect">
            <a:avLst/>
          </a:prstGeom>
          <a:solidFill>
            <a:srgbClr val="8A93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TextBox 148"/>
          <p:cNvSpPr txBox="1"/>
          <p:nvPr/>
        </p:nvSpPr>
        <p:spPr>
          <a:xfrm>
            <a:off x="12033504" y="17612772"/>
            <a:ext cx="2606040" cy="195523"/>
          </a:xfrm>
          <a:prstGeom prst="rect">
            <a:avLst/>
          </a:prstGeom>
          <a:noFill/>
        </p:spPr>
        <p:txBody>
          <a:bodyPr wrap="square" lIns="0" rIns="0" tIns="0" bIns="0">
            <a:spAutoFit/>
          </a:bodyPr>
          <a:lstStyle/>
          <a:p>
            <a:pPr algn="l">
              <a:lnSpc>
                <a:spcPct val="106000"/>
              </a:lnSpc>
              <a:spcAft>
                <a:spcPts val="0"/>
              </a:spcAft>
            </a:pPr>
            <a:r>
              <a:rPr sz="1105" b="1" i="0">
                <a:solidFill>
                  <a:srgbClr val="4C5566"/>
                </a:solidFill>
                <a:latin typeface="Verdana"/>
              </a:rPr>
              <a:t>C   </a:t>
            </a:r>
            <a:r>
              <a:rPr sz="1105" b="0" i="0">
                <a:solidFill>
                  <a:srgbClr val="171A21"/>
                </a:solidFill>
                <a:latin typeface="Verdana"/>
              </a:rPr>
              <a:t>Watch the screen</a:t>
            </a:r>
          </a:p>
        </p:txBody>
      </p:sp>
      <p:sp>
        <p:nvSpPr>
          <p:cNvPr id="150" name="Rectangle 149"/>
          <p:cNvSpPr/>
          <p:nvPr/>
        </p:nvSpPr>
        <p:spPr>
          <a:xfrm>
            <a:off x="11832336" y="18015108"/>
            <a:ext cx="2880360" cy="484632"/>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Rectangle 150"/>
          <p:cNvSpPr/>
          <p:nvPr/>
        </p:nvSpPr>
        <p:spPr>
          <a:xfrm>
            <a:off x="11832336" y="18015108"/>
            <a:ext cx="45720" cy="484632"/>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TextBox 151"/>
          <p:cNvSpPr txBox="1"/>
          <p:nvPr/>
        </p:nvSpPr>
        <p:spPr>
          <a:xfrm>
            <a:off x="12033504" y="18143124"/>
            <a:ext cx="2606040" cy="195523"/>
          </a:xfrm>
          <a:prstGeom prst="rect">
            <a:avLst/>
          </a:prstGeom>
          <a:noFill/>
        </p:spPr>
        <p:txBody>
          <a:bodyPr wrap="square" lIns="0" rIns="0" tIns="0" bIns="0">
            <a:spAutoFit/>
          </a:bodyPr>
          <a:lstStyle/>
          <a:p>
            <a:pPr algn="l">
              <a:lnSpc>
                <a:spcPct val="106000"/>
              </a:lnSpc>
              <a:spcAft>
                <a:spcPts val="0"/>
              </a:spcAft>
            </a:pPr>
            <a:r>
              <a:rPr sz="1105" b="1" i="0">
                <a:solidFill>
                  <a:srgbClr val="2F6B48"/>
                </a:solidFill>
                <a:latin typeface="Verdana"/>
              </a:rPr>
              <a:t>D   </a:t>
            </a:r>
            <a:r>
              <a:rPr sz="1105" b="0" i="0">
                <a:solidFill>
                  <a:srgbClr val="171A21"/>
                </a:solidFill>
                <a:latin typeface="Verdana"/>
              </a:rPr>
              <a:t>Send known test cases</a:t>
            </a:r>
          </a:p>
        </p:txBody>
      </p:sp>
      <p:sp>
        <p:nvSpPr>
          <p:cNvPr id="153" name="Rectangle 152"/>
          <p:cNvSpPr/>
          <p:nvPr/>
        </p:nvSpPr>
        <p:spPr>
          <a:xfrm>
            <a:off x="11832336" y="18545460"/>
            <a:ext cx="2880360" cy="484632"/>
          </a:xfrm>
          <a:prstGeom prst="rect">
            <a:avLst/>
          </a:prstGeom>
          <a:solidFill>
            <a:srgbClr val="F2F4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Rectangle 153"/>
          <p:cNvSpPr/>
          <p:nvPr/>
        </p:nvSpPr>
        <p:spPr>
          <a:xfrm>
            <a:off x="11832336" y="18545460"/>
            <a:ext cx="45720" cy="484632"/>
          </a:xfrm>
          <a:prstGeom prst="rect">
            <a:avLst/>
          </a:prstGeom>
          <a:solidFill>
            <a:srgbClr val="8A93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TextBox 154"/>
          <p:cNvSpPr txBox="1"/>
          <p:nvPr/>
        </p:nvSpPr>
        <p:spPr>
          <a:xfrm>
            <a:off x="12033504" y="18673476"/>
            <a:ext cx="2606040" cy="195523"/>
          </a:xfrm>
          <a:prstGeom prst="rect">
            <a:avLst/>
          </a:prstGeom>
          <a:noFill/>
        </p:spPr>
        <p:txBody>
          <a:bodyPr wrap="square" lIns="0" rIns="0" tIns="0" bIns="0">
            <a:spAutoFit/>
          </a:bodyPr>
          <a:lstStyle/>
          <a:p>
            <a:pPr algn="l">
              <a:lnSpc>
                <a:spcPct val="106000"/>
              </a:lnSpc>
              <a:spcAft>
                <a:spcPts val="0"/>
              </a:spcAft>
            </a:pPr>
            <a:r>
              <a:rPr sz="1105" b="1" i="0">
                <a:solidFill>
                  <a:srgbClr val="4C5566"/>
                </a:solidFill>
                <a:latin typeface="Verdana"/>
              </a:rPr>
              <a:t>E   </a:t>
            </a:r>
            <a:r>
              <a:rPr sz="1105" b="0" i="0">
                <a:solidFill>
                  <a:srgbClr val="171A21"/>
                </a:solidFill>
                <a:latin typeface="Verdana"/>
              </a:rPr>
              <a:t>Compare to a reference</a:t>
            </a:r>
          </a:p>
        </p:txBody>
      </p:sp>
      <p:sp>
        <p:nvSpPr>
          <p:cNvPr id="156" name="Rectangle 155"/>
          <p:cNvSpPr/>
          <p:nvPr/>
        </p:nvSpPr>
        <p:spPr>
          <a:xfrm>
            <a:off x="11832336" y="19075812"/>
            <a:ext cx="2880360" cy="484632"/>
          </a:xfrm>
          <a:prstGeom prst="rect">
            <a:avLst/>
          </a:prstGeom>
          <a:solidFill>
            <a:srgbClr val="E4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 name="Rectangle 156"/>
          <p:cNvSpPr/>
          <p:nvPr/>
        </p:nvSpPr>
        <p:spPr>
          <a:xfrm>
            <a:off x="11832336" y="19075812"/>
            <a:ext cx="45720" cy="484632"/>
          </a:xfrm>
          <a:prstGeom prst="rect">
            <a:avLst/>
          </a:prstGeom>
          <a:solidFill>
            <a:srgbClr val="2F6B4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TextBox 157"/>
          <p:cNvSpPr txBox="1"/>
          <p:nvPr/>
        </p:nvSpPr>
        <p:spPr>
          <a:xfrm>
            <a:off x="12033504" y="19203828"/>
            <a:ext cx="2606040" cy="195523"/>
          </a:xfrm>
          <a:prstGeom prst="rect">
            <a:avLst/>
          </a:prstGeom>
          <a:noFill/>
        </p:spPr>
        <p:txBody>
          <a:bodyPr wrap="square" lIns="0" rIns="0" tIns="0" bIns="0">
            <a:spAutoFit/>
          </a:bodyPr>
          <a:lstStyle/>
          <a:p>
            <a:pPr algn="l">
              <a:lnSpc>
                <a:spcPct val="106000"/>
              </a:lnSpc>
              <a:spcAft>
                <a:spcPts val="0"/>
              </a:spcAft>
            </a:pPr>
            <a:r>
              <a:rPr sz="1105" b="1" i="0">
                <a:solidFill>
                  <a:srgbClr val="2F6B48"/>
                </a:solidFill>
                <a:latin typeface="Verdana"/>
              </a:rPr>
              <a:t>F   </a:t>
            </a:r>
            <a:r>
              <a:rPr sz="1105" b="0" i="0">
                <a:solidFill>
                  <a:srgbClr val="171A21"/>
                </a:solidFill>
                <a:latin typeface="Verdana"/>
              </a:rPr>
              <a:t>Ask staff to report</a:t>
            </a:r>
          </a:p>
        </p:txBody>
      </p:sp>
      <p:sp>
        <p:nvSpPr>
          <p:cNvPr id="159" name="TextBox 158"/>
          <p:cNvSpPr txBox="1"/>
          <p:nvPr/>
        </p:nvSpPr>
        <p:spPr>
          <a:xfrm>
            <a:off x="11832336" y="19642740"/>
            <a:ext cx="2971800" cy="327764"/>
          </a:xfrm>
          <a:prstGeom prst="rect">
            <a:avLst/>
          </a:prstGeom>
          <a:noFill/>
        </p:spPr>
        <p:txBody>
          <a:bodyPr wrap="square" lIns="0" rIns="0" tIns="0" bIns="0">
            <a:spAutoFit/>
          </a:bodyPr>
          <a:lstStyle/>
          <a:p>
            <a:pPr algn="l">
              <a:lnSpc>
                <a:spcPct val="110000"/>
              </a:lnSpc>
              <a:spcAft>
                <a:spcPts val="0"/>
              </a:spcAft>
            </a:pPr>
            <a:r>
              <a:rPr sz="892" b="1" i="0">
                <a:solidFill>
                  <a:srgbClr val="2F6B48"/>
                </a:solidFill>
                <a:latin typeface="Verdana"/>
              </a:rPr>
              <a:t>GREEN = NEEDS NO ENGINEERS
AND NO VENDOR COOPERATION</a:t>
            </a:r>
          </a:p>
        </p:txBody>
      </p:sp>
      <p:sp>
        <p:nvSpPr>
          <p:cNvPr id="160" name="Rectangle 159"/>
          <p:cNvSpPr/>
          <p:nvPr/>
        </p:nvSpPr>
        <p:spPr>
          <a:xfrm>
            <a:off x="14794992" y="16588644"/>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Rectangle 160"/>
          <p:cNvSpPr/>
          <p:nvPr/>
        </p:nvSpPr>
        <p:spPr>
          <a:xfrm>
            <a:off x="14794992" y="17118996"/>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 name="Rectangle 161"/>
          <p:cNvSpPr/>
          <p:nvPr/>
        </p:nvSpPr>
        <p:spPr>
          <a:xfrm>
            <a:off x="14794992" y="17649348"/>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ectangle 162"/>
          <p:cNvSpPr/>
          <p:nvPr/>
        </p:nvSpPr>
        <p:spPr>
          <a:xfrm>
            <a:off x="14794992" y="18179700"/>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Rectangle 163"/>
          <p:cNvSpPr/>
          <p:nvPr/>
        </p:nvSpPr>
        <p:spPr>
          <a:xfrm>
            <a:off x="14794992" y="18710052"/>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 name="Rectangle 164"/>
          <p:cNvSpPr/>
          <p:nvPr/>
        </p:nvSpPr>
        <p:spPr>
          <a:xfrm>
            <a:off x="14794992" y="19240404"/>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 name="Rectangle 165"/>
          <p:cNvSpPr/>
          <p:nvPr/>
        </p:nvSpPr>
        <p:spPr>
          <a:xfrm>
            <a:off x="15270480" y="16369188"/>
            <a:ext cx="2999232" cy="3218688"/>
          </a:xfrm>
          <a:prstGeom prst="rect">
            <a:avLst/>
          </a:prstGeom>
          <a:solidFill>
            <a:srgbClr val="162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15489935" y="16515492"/>
            <a:ext cx="2606040" cy="172963"/>
          </a:xfrm>
          <a:prstGeom prst="rect">
            <a:avLst/>
          </a:prstGeom>
          <a:noFill/>
        </p:spPr>
        <p:txBody>
          <a:bodyPr wrap="square" lIns="0" rIns="0" tIns="0" bIns="0">
            <a:spAutoFit/>
          </a:bodyPr>
          <a:lstStyle/>
          <a:p>
            <a:pPr algn="l">
              <a:lnSpc>
                <a:spcPct val="106000"/>
              </a:lnSpc>
              <a:spcAft>
                <a:spcPts val="0"/>
              </a:spcAft>
            </a:pPr>
            <a:r>
              <a:rPr sz="977" b="1" i="0">
                <a:solidFill>
                  <a:srgbClr val="9AAEE0"/>
                </a:solidFill>
                <a:latin typeface="Verdana"/>
              </a:rPr>
              <a:t>2 · WHAT YOU RECORD</a:t>
            </a:r>
          </a:p>
        </p:txBody>
      </p:sp>
      <p:sp>
        <p:nvSpPr>
          <p:cNvPr id="168" name="TextBox 167"/>
          <p:cNvSpPr txBox="1"/>
          <p:nvPr/>
        </p:nvSpPr>
        <p:spPr>
          <a:xfrm>
            <a:off x="15489935" y="16744092"/>
            <a:ext cx="2606040" cy="165443"/>
          </a:xfrm>
          <a:prstGeom prst="rect">
            <a:avLst/>
          </a:prstGeom>
          <a:noFill/>
        </p:spPr>
        <p:txBody>
          <a:bodyPr wrap="square" lIns="0" rIns="0" tIns="0" bIns="0">
            <a:spAutoFit/>
          </a:bodyPr>
          <a:lstStyle/>
          <a:p>
            <a:pPr algn="l">
              <a:lnSpc>
                <a:spcPct val="106000"/>
              </a:lnSpc>
              <a:spcAft>
                <a:spcPts val="0"/>
              </a:spcAft>
            </a:pPr>
            <a:r>
              <a:rPr sz="935" b="0" i="0">
                <a:solidFill>
                  <a:srgbClr val="8AA4DC"/>
                </a:solidFill>
                <a:latin typeface="Verdana"/>
              </a:rPr>
              <a:t>One row per AI interaction</a:t>
            </a:r>
          </a:p>
        </p:txBody>
      </p:sp>
      <p:sp>
        <p:nvSpPr>
          <p:cNvPr id="169" name="TextBox 168"/>
          <p:cNvSpPr txBox="1"/>
          <p:nvPr/>
        </p:nvSpPr>
        <p:spPr>
          <a:xfrm>
            <a:off x="15489935" y="16954404"/>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which patient</a:t>
            </a:r>
          </a:p>
        </p:txBody>
      </p:sp>
      <p:sp>
        <p:nvSpPr>
          <p:cNvPr id="170" name="TextBox 169"/>
          <p:cNvSpPr txBox="1"/>
          <p:nvPr/>
        </p:nvSpPr>
        <p:spPr>
          <a:xfrm>
            <a:off x="15489935" y="17224152"/>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which clinician</a:t>
            </a:r>
          </a:p>
        </p:txBody>
      </p:sp>
      <p:sp>
        <p:nvSpPr>
          <p:cNvPr id="171" name="TextBox 170"/>
          <p:cNvSpPr txBox="1"/>
          <p:nvPr/>
        </p:nvSpPr>
        <p:spPr>
          <a:xfrm>
            <a:off x="15489935" y="17493900"/>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which model + version</a:t>
            </a:r>
          </a:p>
        </p:txBody>
      </p:sp>
      <p:sp>
        <p:nvSpPr>
          <p:cNvPr id="172" name="TextBox 171"/>
          <p:cNvSpPr txBox="1"/>
          <p:nvPr/>
        </p:nvSpPr>
        <p:spPr>
          <a:xfrm>
            <a:off x="15489935" y="17763648"/>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what it recommended</a:t>
            </a:r>
          </a:p>
        </p:txBody>
      </p:sp>
      <p:sp>
        <p:nvSpPr>
          <p:cNvPr id="173" name="TextBox 172"/>
          <p:cNvSpPr txBox="1"/>
          <p:nvPr/>
        </p:nvSpPr>
        <p:spPr>
          <a:xfrm>
            <a:off x="15489935" y="18033396"/>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what the human did</a:t>
            </a:r>
          </a:p>
        </p:txBody>
      </p:sp>
      <p:sp>
        <p:nvSpPr>
          <p:cNvPr id="174" name="TextBox 173"/>
          <p:cNvSpPr txBox="1"/>
          <p:nvPr/>
        </p:nvSpPr>
        <p:spPr>
          <a:xfrm>
            <a:off x="15489935" y="18303144"/>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what was produced</a:t>
            </a:r>
          </a:p>
        </p:txBody>
      </p:sp>
      <p:sp>
        <p:nvSpPr>
          <p:cNvPr id="175" name="TextBox 174"/>
          <p:cNvSpPr txBox="1"/>
          <p:nvPr/>
        </p:nvSpPr>
        <p:spPr>
          <a:xfrm>
            <a:off x="15489935" y="18572892"/>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where data went</a:t>
            </a:r>
          </a:p>
        </p:txBody>
      </p:sp>
      <p:sp>
        <p:nvSpPr>
          <p:cNvPr id="176" name="TextBox 175"/>
          <p:cNvSpPr txBox="1"/>
          <p:nvPr/>
        </p:nvSpPr>
        <p:spPr>
          <a:xfrm>
            <a:off x="15489935" y="18842640"/>
            <a:ext cx="2743200" cy="188003"/>
          </a:xfrm>
          <a:prstGeom prst="rect">
            <a:avLst/>
          </a:prstGeom>
          <a:noFill/>
        </p:spPr>
        <p:txBody>
          <a:bodyPr wrap="square" lIns="0" rIns="0" tIns="0" bIns="0">
            <a:spAutoFit/>
          </a:bodyPr>
          <a:lstStyle/>
          <a:p>
            <a:pPr algn="l">
              <a:lnSpc>
                <a:spcPct val="106000"/>
              </a:lnSpc>
              <a:spcAft>
                <a:spcPts val="0"/>
              </a:spcAft>
            </a:pPr>
            <a:r>
              <a:rPr sz="1062" b="0" i="0">
                <a:solidFill>
                  <a:srgbClr val="FFFFFF"/>
                </a:solidFill>
                <a:latin typeface="Consolas"/>
              </a:rPr>
              <a:t>what happened after</a:t>
            </a:r>
          </a:p>
        </p:txBody>
      </p:sp>
      <p:sp>
        <p:nvSpPr>
          <p:cNvPr id="177" name="Rectangle 176"/>
          <p:cNvSpPr/>
          <p:nvPr/>
        </p:nvSpPr>
        <p:spPr>
          <a:xfrm>
            <a:off x="18324576" y="16661796"/>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 name="Rectangle 177"/>
          <p:cNvSpPr/>
          <p:nvPr/>
        </p:nvSpPr>
        <p:spPr>
          <a:xfrm>
            <a:off x="18324576" y="17247012"/>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 name="Rectangle 178"/>
          <p:cNvSpPr/>
          <p:nvPr/>
        </p:nvSpPr>
        <p:spPr>
          <a:xfrm>
            <a:off x="18324576" y="17832228"/>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 name="Rectangle 179"/>
          <p:cNvSpPr/>
          <p:nvPr/>
        </p:nvSpPr>
        <p:spPr>
          <a:xfrm>
            <a:off x="18324576" y="18417444"/>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 name="Rectangle 180"/>
          <p:cNvSpPr/>
          <p:nvPr/>
        </p:nvSpPr>
        <p:spPr>
          <a:xfrm>
            <a:off x="18324576" y="19002660"/>
            <a:ext cx="384048" cy="45720"/>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 name="TextBox 181"/>
          <p:cNvSpPr txBox="1"/>
          <p:nvPr/>
        </p:nvSpPr>
        <p:spPr>
          <a:xfrm>
            <a:off x="18800064" y="15966852"/>
            <a:ext cx="2286000" cy="172963"/>
          </a:xfrm>
          <a:prstGeom prst="rect">
            <a:avLst/>
          </a:prstGeom>
          <a:noFill/>
        </p:spPr>
        <p:txBody>
          <a:bodyPr wrap="square" lIns="0" rIns="0" tIns="0" bIns="0">
            <a:spAutoFit/>
          </a:bodyPr>
          <a:lstStyle/>
          <a:p>
            <a:pPr algn="l">
              <a:lnSpc>
                <a:spcPct val="106000"/>
              </a:lnSpc>
              <a:spcAft>
                <a:spcPts val="0"/>
              </a:spcAft>
            </a:pPr>
            <a:r>
              <a:rPr sz="977" b="1" i="0">
                <a:solidFill>
                  <a:srgbClr val="2B4796"/>
                </a:solidFill>
                <a:latin typeface="Verdana"/>
              </a:rPr>
              <a:t>3 · WHAT YOU ASK OF IT</a:t>
            </a:r>
          </a:p>
        </p:txBody>
      </p:sp>
      <p:sp>
        <p:nvSpPr>
          <p:cNvPr id="183" name="TextBox 182"/>
          <p:cNvSpPr txBox="1"/>
          <p:nvPr/>
        </p:nvSpPr>
        <p:spPr>
          <a:xfrm>
            <a:off x="18800064" y="16186308"/>
            <a:ext cx="2286000" cy="165443"/>
          </a:xfrm>
          <a:prstGeom prst="rect">
            <a:avLst/>
          </a:prstGeom>
          <a:noFill/>
        </p:spPr>
        <p:txBody>
          <a:bodyPr wrap="square" lIns="0" rIns="0" tIns="0" bIns="0">
            <a:spAutoFit/>
          </a:bodyPr>
          <a:lstStyle/>
          <a:p>
            <a:pPr algn="l">
              <a:lnSpc>
                <a:spcPct val="106000"/>
              </a:lnSpc>
              <a:spcAft>
                <a:spcPts val="0"/>
              </a:spcAft>
            </a:pPr>
            <a:r>
              <a:rPr sz="935" b="0" i="0">
                <a:solidFill>
                  <a:srgbClr val="4C5566"/>
                </a:solidFill>
                <a:latin typeface="Verdana"/>
              </a:rPr>
              <a:t>One query per framework.</a:t>
            </a:r>
          </a:p>
        </p:txBody>
      </p:sp>
      <p:sp>
        <p:nvSpPr>
          <p:cNvPr id="184" name="Rectangle 183"/>
          <p:cNvSpPr/>
          <p:nvPr/>
        </p:nvSpPr>
        <p:spPr>
          <a:xfrm>
            <a:off x="18800064" y="16424052"/>
            <a:ext cx="2286000" cy="53035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 name="Rectangle 184"/>
          <p:cNvSpPr/>
          <p:nvPr/>
        </p:nvSpPr>
        <p:spPr>
          <a:xfrm>
            <a:off x="18800064" y="16424052"/>
            <a:ext cx="45720" cy="5303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 name="TextBox 185"/>
          <p:cNvSpPr txBox="1"/>
          <p:nvPr/>
        </p:nvSpPr>
        <p:spPr>
          <a:xfrm>
            <a:off x="19001231" y="16488060"/>
            <a:ext cx="1883664" cy="203043"/>
          </a:xfrm>
          <a:prstGeom prst="rect">
            <a:avLst/>
          </a:prstGeom>
          <a:noFill/>
        </p:spPr>
        <p:txBody>
          <a:bodyPr wrap="square" lIns="0" rIns="0" tIns="0" bIns="0">
            <a:spAutoFit/>
          </a:bodyPr>
          <a:lstStyle/>
          <a:p>
            <a:pPr algn="l">
              <a:lnSpc>
                <a:spcPct val="106000"/>
              </a:lnSpc>
              <a:spcAft>
                <a:spcPts val="0"/>
              </a:spcAft>
            </a:pPr>
            <a:r>
              <a:rPr sz="1147" b="1" i="0">
                <a:solidFill>
                  <a:srgbClr val="171A21"/>
                </a:solidFill>
                <a:latin typeface="Verdana"/>
              </a:rPr>
              <a:t>Access</a:t>
            </a:r>
          </a:p>
        </p:txBody>
      </p:sp>
      <p:sp>
        <p:nvSpPr>
          <p:cNvPr id="187" name="TextBox 186"/>
          <p:cNvSpPr txBox="1"/>
          <p:nvPr/>
        </p:nvSpPr>
        <p:spPr>
          <a:xfrm>
            <a:off x="19001231" y="16707516"/>
            <a:ext cx="1883664" cy="157922"/>
          </a:xfrm>
          <a:prstGeom prst="rect">
            <a:avLst/>
          </a:prstGeom>
          <a:noFill/>
        </p:spPr>
        <p:txBody>
          <a:bodyPr wrap="square" lIns="0" rIns="0" tIns="0" bIns="0">
            <a:spAutoFit/>
          </a:bodyPr>
          <a:lstStyle/>
          <a:p>
            <a:pPr algn="l">
              <a:lnSpc>
                <a:spcPct val="106000"/>
              </a:lnSpc>
              <a:spcAft>
                <a:spcPts val="0"/>
              </a:spcAft>
            </a:pPr>
            <a:r>
              <a:rPr sz="892" b="0" i="0">
                <a:solidFill>
                  <a:srgbClr val="4C5566"/>
                </a:solidFill>
                <a:latin typeface="Verdana"/>
              </a:rPr>
              <a:t>who touched what — HIPAA</a:t>
            </a:r>
          </a:p>
        </p:txBody>
      </p:sp>
      <p:sp>
        <p:nvSpPr>
          <p:cNvPr id="188" name="Rectangle 187"/>
          <p:cNvSpPr/>
          <p:nvPr/>
        </p:nvSpPr>
        <p:spPr>
          <a:xfrm>
            <a:off x="18800064" y="17009268"/>
            <a:ext cx="2286000" cy="53035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 name="Rectangle 188"/>
          <p:cNvSpPr/>
          <p:nvPr/>
        </p:nvSpPr>
        <p:spPr>
          <a:xfrm>
            <a:off x="18800064" y="17009268"/>
            <a:ext cx="45720" cy="5303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 name="TextBox 189"/>
          <p:cNvSpPr txBox="1"/>
          <p:nvPr/>
        </p:nvSpPr>
        <p:spPr>
          <a:xfrm>
            <a:off x="19001231" y="17073276"/>
            <a:ext cx="1883664" cy="203043"/>
          </a:xfrm>
          <a:prstGeom prst="rect">
            <a:avLst/>
          </a:prstGeom>
          <a:noFill/>
        </p:spPr>
        <p:txBody>
          <a:bodyPr wrap="square" lIns="0" rIns="0" tIns="0" bIns="0">
            <a:spAutoFit/>
          </a:bodyPr>
          <a:lstStyle/>
          <a:p>
            <a:pPr algn="l">
              <a:lnSpc>
                <a:spcPct val="106000"/>
              </a:lnSpc>
              <a:spcAft>
                <a:spcPts val="0"/>
              </a:spcAft>
            </a:pPr>
            <a:r>
              <a:rPr sz="1147" b="1" i="0">
                <a:solidFill>
                  <a:srgbClr val="171A21"/>
                </a:solidFill>
                <a:latin typeface="Verdana"/>
              </a:rPr>
              <a:t>Boundary</a:t>
            </a:r>
          </a:p>
        </p:txBody>
      </p:sp>
      <p:sp>
        <p:nvSpPr>
          <p:cNvPr id="191" name="TextBox 190"/>
          <p:cNvSpPr txBox="1"/>
          <p:nvPr/>
        </p:nvSpPr>
        <p:spPr>
          <a:xfrm>
            <a:off x="19001231" y="17292732"/>
            <a:ext cx="1883664" cy="157922"/>
          </a:xfrm>
          <a:prstGeom prst="rect">
            <a:avLst/>
          </a:prstGeom>
          <a:noFill/>
        </p:spPr>
        <p:txBody>
          <a:bodyPr wrap="square" lIns="0" rIns="0" tIns="0" bIns="0">
            <a:spAutoFit/>
          </a:bodyPr>
          <a:lstStyle/>
          <a:p>
            <a:pPr algn="l">
              <a:lnSpc>
                <a:spcPct val="106000"/>
              </a:lnSpc>
              <a:spcAft>
                <a:spcPts val="0"/>
              </a:spcAft>
            </a:pPr>
            <a:r>
              <a:rPr sz="892" b="0" i="0">
                <a:solidFill>
                  <a:srgbClr val="4C5566"/>
                </a:solidFill>
                <a:latin typeface="Verdana"/>
              </a:rPr>
              <a:t>where data left to</a:t>
            </a:r>
          </a:p>
        </p:txBody>
      </p:sp>
      <p:sp>
        <p:nvSpPr>
          <p:cNvPr id="192" name="Rectangle 191"/>
          <p:cNvSpPr/>
          <p:nvPr/>
        </p:nvSpPr>
        <p:spPr>
          <a:xfrm>
            <a:off x="18800064" y="17594484"/>
            <a:ext cx="2286000" cy="53035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 name="Rectangle 192"/>
          <p:cNvSpPr/>
          <p:nvPr/>
        </p:nvSpPr>
        <p:spPr>
          <a:xfrm>
            <a:off x="18800064" y="17594484"/>
            <a:ext cx="45720" cy="5303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 name="TextBox 193"/>
          <p:cNvSpPr txBox="1"/>
          <p:nvPr/>
        </p:nvSpPr>
        <p:spPr>
          <a:xfrm>
            <a:off x="19001231" y="17658492"/>
            <a:ext cx="1883664" cy="203043"/>
          </a:xfrm>
          <a:prstGeom prst="rect">
            <a:avLst/>
          </a:prstGeom>
          <a:noFill/>
        </p:spPr>
        <p:txBody>
          <a:bodyPr wrap="square" lIns="0" rIns="0" tIns="0" bIns="0">
            <a:spAutoFit/>
          </a:bodyPr>
          <a:lstStyle/>
          <a:p>
            <a:pPr algn="l">
              <a:lnSpc>
                <a:spcPct val="106000"/>
              </a:lnSpc>
              <a:spcAft>
                <a:spcPts val="0"/>
              </a:spcAft>
            </a:pPr>
            <a:r>
              <a:rPr sz="1147" b="1" i="0">
                <a:solidFill>
                  <a:srgbClr val="171A21"/>
                </a:solidFill>
                <a:latin typeface="Verdana"/>
              </a:rPr>
              <a:t>Environment</a:t>
            </a:r>
          </a:p>
        </p:txBody>
      </p:sp>
      <p:sp>
        <p:nvSpPr>
          <p:cNvPr id="195" name="TextBox 194"/>
          <p:cNvSpPr txBox="1"/>
          <p:nvPr/>
        </p:nvSpPr>
        <p:spPr>
          <a:xfrm>
            <a:off x="19001231" y="17877948"/>
            <a:ext cx="1883664" cy="157922"/>
          </a:xfrm>
          <a:prstGeom prst="rect">
            <a:avLst/>
          </a:prstGeom>
          <a:noFill/>
        </p:spPr>
        <p:txBody>
          <a:bodyPr wrap="square" lIns="0" rIns="0" tIns="0" bIns="0">
            <a:spAutoFit/>
          </a:bodyPr>
          <a:lstStyle/>
          <a:p>
            <a:pPr algn="l">
              <a:lnSpc>
                <a:spcPct val="106000"/>
              </a:lnSpc>
              <a:spcAft>
                <a:spcPts val="0"/>
              </a:spcAft>
            </a:pPr>
            <a:r>
              <a:rPr sz="892" b="0" i="0">
                <a:solidFill>
                  <a:srgbClr val="4C5566"/>
                </a:solidFill>
                <a:latin typeface="Verdana"/>
              </a:rPr>
              <a:t>config + incidents</a:t>
            </a:r>
          </a:p>
        </p:txBody>
      </p:sp>
      <p:sp>
        <p:nvSpPr>
          <p:cNvPr id="196" name="Rectangle 195"/>
          <p:cNvSpPr/>
          <p:nvPr/>
        </p:nvSpPr>
        <p:spPr>
          <a:xfrm>
            <a:off x="18800064" y="18179700"/>
            <a:ext cx="2286000" cy="53035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 name="Rectangle 196"/>
          <p:cNvSpPr/>
          <p:nvPr/>
        </p:nvSpPr>
        <p:spPr>
          <a:xfrm>
            <a:off x="18800064" y="18179700"/>
            <a:ext cx="45720" cy="5303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 name="TextBox 197"/>
          <p:cNvSpPr txBox="1"/>
          <p:nvPr/>
        </p:nvSpPr>
        <p:spPr>
          <a:xfrm>
            <a:off x="19001231" y="18243708"/>
            <a:ext cx="1883664" cy="203043"/>
          </a:xfrm>
          <a:prstGeom prst="rect">
            <a:avLst/>
          </a:prstGeom>
          <a:noFill/>
        </p:spPr>
        <p:txBody>
          <a:bodyPr wrap="square" lIns="0" rIns="0" tIns="0" bIns="0">
            <a:spAutoFit/>
          </a:bodyPr>
          <a:lstStyle/>
          <a:p>
            <a:pPr algn="l">
              <a:lnSpc>
                <a:spcPct val="106000"/>
              </a:lnSpc>
              <a:spcAft>
                <a:spcPts val="0"/>
              </a:spcAft>
            </a:pPr>
            <a:r>
              <a:rPr sz="1147" b="1" i="0">
                <a:solidFill>
                  <a:srgbClr val="171A21"/>
                </a:solidFill>
                <a:latin typeface="Verdana"/>
              </a:rPr>
              <a:t>Model</a:t>
            </a:r>
          </a:p>
        </p:txBody>
      </p:sp>
      <p:sp>
        <p:nvSpPr>
          <p:cNvPr id="199" name="TextBox 198"/>
          <p:cNvSpPr txBox="1"/>
          <p:nvPr/>
        </p:nvSpPr>
        <p:spPr>
          <a:xfrm>
            <a:off x="19001231" y="18463164"/>
            <a:ext cx="1883664" cy="157922"/>
          </a:xfrm>
          <a:prstGeom prst="rect">
            <a:avLst/>
          </a:prstGeom>
          <a:noFill/>
        </p:spPr>
        <p:txBody>
          <a:bodyPr wrap="square" lIns="0" rIns="0" tIns="0" bIns="0">
            <a:spAutoFit/>
          </a:bodyPr>
          <a:lstStyle/>
          <a:p>
            <a:pPr algn="l">
              <a:lnSpc>
                <a:spcPct val="106000"/>
              </a:lnSpc>
              <a:spcAft>
                <a:spcPts val="0"/>
              </a:spcAft>
            </a:pPr>
            <a:r>
              <a:rPr sz="892" b="0" i="0">
                <a:solidFill>
                  <a:srgbClr val="4C5566"/>
                </a:solidFill>
                <a:latin typeface="Verdana"/>
              </a:rPr>
              <a:t>still accurate? drifting?</a:t>
            </a:r>
          </a:p>
        </p:txBody>
      </p:sp>
      <p:sp>
        <p:nvSpPr>
          <p:cNvPr id="200" name="Rectangle 199"/>
          <p:cNvSpPr/>
          <p:nvPr/>
        </p:nvSpPr>
        <p:spPr>
          <a:xfrm>
            <a:off x="18800064" y="18764916"/>
            <a:ext cx="2286000" cy="530352"/>
          </a:xfrm>
          <a:prstGeom prst="rect">
            <a:avLst/>
          </a:prstGeom>
          <a:solidFill>
            <a:srgbClr val="E8EC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 name="Rectangle 200"/>
          <p:cNvSpPr/>
          <p:nvPr/>
        </p:nvSpPr>
        <p:spPr>
          <a:xfrm>
            <a:off x="18800064" y="18764916"/>
            <a:ext cx="45720" cy="53035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 name="TextBox 201"/>
          <p:cNvSpPr txBox="1"/>
          <p:nvPr/>
        </p:nvSpPr>
        <p:spPr>
          <a:xfrm>
            <a:off x="19001231" y="18828924"/>
            <a:ext cx="1883664" cy="203043"/>
          </a:xfrm>
          <a:prstGeom prst="rect">
            <a:avLst/>
          </a:prstGeom>
          <a:noFill/>
        </p:spPr>
        <p:txBody>
          <a:bodyPr wrap="square" lIns="0" rIns="0" tIns="0" bIns="0">
            <a:spAutoFit/>
          </a:bodyPr>
          <a:lstStyle/>
          <a:p>
            <a:pPr algn="l">
              <a:lnSpc>
                <a:spcPct val="106000"/>
              </a:lnSpc>
              <a:spcAft>
                <a:spcPts val="0"/>
              </a:spcAft>
            </a:pPr>
            <a:r>
              <a:rPr sz="1147" b="1" i="0">
                <a:solidFill>
                  <a:srgbClr val="171A21"/>
                </a:solidFill>
                <a:latin typeface="Verdana"/>
              </a:rPr>
              <a:t>Human</a:t>
            </a:r>
          </a:p>
        </p:txBody>
      </p:sp>
      <p:sp>
        <p:nvSpPr>
          <p:cNvPr id="203" name="TextBox 202"/>
          <p:cNvSpPr txBox="1"/>
          <p:nvPr/>
        </p:nvSpPr>
        <p:spPr>
          <a:xfrm>
            <a:off x="19001231" y="19048380"/>
            <a:ext cx="1883664" cy="157922"/>
          </a:xfrm>
          <a:prstGeom prst="rect">
            <a:avLst/>
          </a:prstGeom>
          <a:noFill/>
        </p:spPr>
        <p:txBody>
          <a:bodyPr wrap="square" lIns="0" rIns="0" tIns="0" bIns="0">
            <a:spAutoFit/>
          </a:bodyPr>
          <a:lstStyle/>
          <a:p>
            <a:pPr algn="l">
              <a:lnSpc>
                <a:spcPct val="106000"/>
              </a:lnSpc>
              <a:spcAft>
                <a:spcPts val="0"/>
              </a:spcAft>
            </a:pPr>
            <a:r>
              <a:rPr sz="892" b="0" i="0">
                <a:solidFill>
                  <a:srgbClr val="4C5566"/>
                </a:solidFill>
                <a:latin typeface="Verdana"/>
              </a:rPr>
              <a:t>override rate, behavior</a:t>
            </a:r>
          </a:p>
        </p:txBody>
      </p:sp>
      <p:sp>
        <p:nvSpPr>
          <p:cNvPr id="204" name="TextBox 203"/>
          <p:cNvSpPr txBox="1"/>
          <p:nvPr/>
        </p:nvSpPr>
        <p:spPr>
          <a:xfrm>
            <a:off x="18800064" y="19386708"/>
            <a:ext cx="2286000" cy="327764"/>
          </a:xfrm>
          <a:prstGeom prst="rect">
            <a:avLst/>
          </a:prstGeom>
          <a:noFill/>
        </p:spPr>
        <p:txBody>
          <a:bodyPr wrap="square" lIns="0" rIns="0" tIns="0" bIns="0">
            <a:spAutoFit/>
          </a:bodyPr>
          <a:lstStyle/>
          <a:p>
            <a:pPr algn="l">
              <a:lnSpc>
                <a:spcPct val="110000"/>
              </a:lnSpc>
              <a:spcAft>
                <a:spcPts val="0"/>
              </a:spcAft>
            </a:pPr>
            <a:r>
              <a:rPr sz="892" b="1" i="0">
                <a:solidFill>
                  <a:srgbClr val="2B4796"/>
                </a:solidFill>
                <a:latin typeface="Verdana"/>
              </a:rPr>
              <a:t>EACH IS A QUERY OVER THE SAME
ROW — NOT A NEW SYSTEM</a:t>
            </a:r>
          </a:p>
        </p:txBody>
      </p:sp>
      <p:sp>
        <p:nvSpPr>
          <p:cNvPr id="207" name="TextBox 206"/>
          <p:cNvSpPr txBox="1"/>
          <p:nvPr/>
        </p:nvSpPr>
        <p:spPr>
          <a:xfrm>
            <a:off x="22384511" y="4818888"/>
            <a:ext cx="9253728" cy="194992"/>
          </a:xfrm>
          <a:prstGeom prst="rect">
            <a:avLst/>
          </a:prstGeom>
          <a:noFill/>
        </p:spPr>
        <p:txBody>
          <a:bodyPr wrap="square" lIns="0" rIns="0" tIns="0" bIns="0">
            <a:spAutoFit/>
          </a:bodyPr>
          <a:lstStyle/>
          <a:p>
            <a:pPr algn="l">
              <a:lnSpc>
                <a:spcPct val="106000"/>
              </a:lnSpc>
              <a:spcAft>
                <a:spcPts val="0"/>
              </a:spcAft>
            </a:pPr>
            <a:r>
              <a:rPr sz="1102" b="1" i="0">
                <a:solidFill>
                  <a:srgbClr val="2B4796"/>
                </a:solidFill>
                <a:latin typeface="Verdana"/>
              </a:rPr>
              <a:t>HOW TO DEPLOY IT</a:t>
            </a:r>
          </a:p>
        </p:txBody>
      </p:sp>
      <p:sp>
        <p:nvSpPr>
          <p:cNvPr id="208" name="TextBox 207"/>
          <p:cNvSpPr txBox="1"/>
          <p:nvPr/>
        </p:nvSpPr>
        <p:spPr>
          <a:xfrm>
            <a:off x="22384511" y="5077888"/>
            <a:ext cx="9253728" cy="310821"/>
          </a:xfrm>
          <a:prstGeom prst="rect">
            <a:avLst/>
          </a:prstGeom>
          <a:noFill/>
        </p:spPr>
        <p:txBody>
          <a:bodyPr wrap="square" lIns="0" rIns="0" tIns="0" bIns="0">
            <a:spAutoFit/>
          </a:bodyPr>
          <a:lstStyle/>
          <a:p>
            <a:pPr algn="l">
              <a:lnSpc>
                <a:spcPct val="98000"/>
              </a:lnSpc>
              <a:spcAft>
                <a:spcPts val="0"/>
              </a:spcAft>
            </a:pPr>
            <a:r>
              <a:rPr sz="1900" b="1" i="0">
                <a:solidFill>
                  <a:srgbClr val="171A21"/>
                </a:solidFill>
                <a:latin typeface="Verdana"/>
              </a:rPr>
              <a:t>Where this attaches in a real health system</a:t>
            </a:r>
          </a:p>
        </p:txBody>
      </p:sp>
      <p:sp>
        <p:nvSpPr>
          <p:cNvPr id="209" name="TextBox 208"/>
          <p:cNvSpPr txBox="1"/>
          <p:nvPr/>
        </p:nvSpPr>
        <p:spPr>
          <a:xfrm>
            <a:off x="22384511" y="5535014"/>
            <a:ext cx="9253728" cy="383642"/>
          </a:xfrm>
          <a:prstGeom prst="rect">
            <a:avLst/>
          </a:prstGeom>
          <a:noFill/>
        </p:spPr>
        <p:txBody>
          <a:bodyPr wrap="square" lIns="0" rIns="0" tIns="0" bIns="0">
            <a:spAutoFit/>
          </a:bodyPr>
          <a:lstStyle/>
          <a:p>
            <a:pPr algn="l">
              <a:lnSpc>
                <a:spcPct val="112000"/>
              </a:lnSpc>
              <a:spcAft>
                <a:spcPts val="0"/>
              </a:spcAft>
            </a:pPr>
            <a:r>
              <a:rPr sz="1026" b="0" i="0">
                <a:solidFill>
                  <a:srgbClr val="4C5566"/>
                </a:solidFill>
                <a:latin typeface="Verdana"/>
              </a:rPr>
              <a:t>Nothing new is installed in the clinical path. Four systems a hospital already runs feed one governance record; four existing functions read from it.</a:t>
            </a:r>
          </a:p>
        </p:txBody>
      </p:sp>
      <p:sp>
        <p:nvSpPr>
          <p:cNvPr id="210" name="Rectangle 209"/>
          <p:cNvSpPr/>
          <p:nvPr/>
        </p:nvSpPr>
        <p:spPr>
          <a:xfrm>
            <a:off x="22402800" y="6010096"/>
            <a:ext cx="2331720" cy="585216"/>
          </a:xfrm>
          <a:prstGeom prst="rect">
            <a:avLst/>
          </a:prstGeom>
          <a:solidFill>
            <a:srgbClr val="FFFFFF"/>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 name="TextBox 210"/>
          <p:cNvSpPr txBox="1"/>
          <p:nvPr/>
        </p:nvSpPr>
        <p:spPr>
          <a:xfrm>
            <a:off x="22549104" y="6110680"/>
            <a:ext cx="2039112" cy="159851"/>
          </a:xfrm>
          <a:prstGeom prst="rect">
            <a:avLst/>
          </a:prstGeom>
          <a:noFill/>
        </p:spPr>
        <p:txBody>
          <a:bodyPr wrap="square" lIns="0" rIns="0" tIns="0" bIns="0">
            <a:spAutoFit/>
          </a:bodyPr>
          <a:lstStyle/>
          <a:p>
            <a:pPr algn="l">
              <a:lnSpc>
                <a:spcPct val="105000"/>
              </a:lnSpc>
              <a:spcAft>
                <a:spcPts val="0"/>
              </a:spcAft>
            </a:pPr>
            <a:r>
              <a:rPr sz="912" b="1" i="0">
                <a:solidFill>
                  <a:srgbClr val="171A21"/>
                </a:solidFill>
                <a:latin typeface="Verdana"/>
              </a:rPr>
              <a:t>Electronic health record</a:t>
            </a:r>
          </a:p>
        </p:txBody>
      </p:sp>
      <p:sp>
        <p:nvSpPr>
          <p:cNvPr id="212" name="TextBox 211"/>
          <p:cNvSpPr txBox="1"/>
          <p:nvPr/>
        </p:nvSpPr>
        <p:spPr>
          <a:xfrm>
            <a:off x="22549104" y="6357568"/>
            <a:ext cx="2039112"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audit logs</a:t>
            </a:r>
          </a:p>
        </p:txBody>
      </p:sp>
      <p:sp>
        <p:nvSpPr>
          <p:cNvPr id="213" name="Rectangle 212"/>
          <p:cNvSpPr/>
          <p:nvPr/>
        </p:nvSpPr>
        <p:spPr>
          <a:xfrm>
            <a:off x="24734520" y="6279844"/>
            <a:ext cx="118872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 name="Rectangle 213"/>
          <p:cNvSpPr/>
          <p:nvPr/>
        </p:nvSpPr>
        <p:spPr>
          <a:xfrm>
            <a:off x="25850088" y="6229552"/>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 name="TextBox 214"/>
          <p:cNvSpPr txBox="1"/>
          <p:nvPr/>
        </p:nvSpPr>
        <p:spPr>
          <a:xfrm>
            <a:off x="24789384" y="5877508"/>
            <a:ext cx="1051560" cy="232925"/>
          </a:xfrm>
          <a:prstGeom prst="rect">
            <a:avLst/>
          </a:prstGeom>
          <a:noFill/>
        </p:spPr>
        <p:txBody>
          <a:bodyPr wrap="square" lIns="0" rIns="0" tIns="0" bIns="0">
            <a:spAutoFit/>
          </a:bodyPr>
          <a:lstStyle/>
          <a:p>
            <a:pPr algn="ctr">
              <a:lnSpc>
                <a:spcPct val="102000"/>
              </a:lnSpc>
              <a:spcAft>
                <a:spcPts val="0"/>
              </a:spcAft>
            </a:pPr>
            <a:r>
              <a:rPr sz="684" b="1" i="0">
                <a:solidFill>
                  <a:srgbClr val="2B4796"/>
                </a:solidFill>
                <a:latin typeface="Verdana"/>
              </a:rPr>
              <a:t>read-only
nightly export</a:t>
            </a:r>
          </a:p>
        </p:txBody>
      </p:sp>
      <p:sp>
        <p:nvSpPr>
          <p:cNvPr id="216" name="Rectangle 215"/>
          <p:cNvSpPr/>
          <p:nvPr/>
        </p:nvSpPr>
        <p:spPr>
          <a:xfrm>
            <a:off x="22402800" y="6723328"/>
            <a:ext cx="2331720" cy="585216"/>
          </a:xfrm>
          <a:prstGeom prst="rect">
            <a:avLst/>
          </a:prstGeom>
          <a:solidFill>
            <a:srgbClr val="FFFFFF"/>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 name="TextBox 216"/>
          <p:cNvSpPr txBox="1"/>
          <p:nvPr/>
        </p:nvSpPr>
        <p:spPr>
          <a:xfrm>
            <a:off x="22549104" y="6823912"/>
            <a:ext cx="2039112" cy="159851"/>
          </a:xfrm>
          <a:prstGeom prst="rect">
            <a:avLst/>
          </a:prstGeom>
          <a:noFill/>
        </p:spPr>
        <p:txBody>
          <a:bodyPr wrap="square" lIns="0" rIns="0" tIns="0" bIns="0">
            <a:spAutoFit/>
          </a:bodyPr>
          <a:lstStyle/>
          <a:p>
            <a:pPr algn="l">
              <a:lnSpc>
                <a:spcPct val="105000"/>
              </a:lnSpc>
              <a:spcAft>
                <a:spcPts val="0"/>
              </a:spcAft>
            </a:pPr>
            <a:r>
              <a:rPr sz="912" b="1" i="0">
                <a:solidFill>
                  <a:srgbClr val="171A21"/>
                </a:solidFill>
                <a:latin typeface="Verdana"/>
              </a:rPr>
              <a:t>Interface engine</a:t>
            </a:r>
          </a:p>
        </p:txBody>
      </p:sp>
      <p:sp>
        <p:nvSpPr>
          <p:cNvPr id="218" name="TextBox 217"/>
          <p:cNvSpPr txBox="1"/>
          <p:nvPr/>
        </p:nvSpPr>
        <p:spPr>
          <a:xfrm>
            <a:off x="22549104" y="7070800"/>
            <a:ext cx="2039112"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HL7 / FHIR messages</a:t>
            </a:r>
          </a:p>
        </p:txBody>
      </p:sp>
      <p:sp>
        <p:nvSpPr>
          <p:cNvPr id="219" name="Rectangle 218"/>
          <p:cNvSpPr/>
          <p:nvPr/>
        </p:nvSpPr>
        <p:spPr>
          <a:xfrm>
            <a:off x="24734520" y="6993076"/>
            <a:ext cx="118872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 name="Rectangle 219"/>
          <p:cNvSpPr/>
          <p:nvPr/>
        </p:nvSpPr>
        <p:spPr>
          <a:xfrm>
            <a:off x="25850088" y="6942784"/>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 name="TextBox 220"/>
          <p:cNvSpPr txBox="1"/>
          <p:nvPr/>
        </p:nvSpPr>
        <p:spPr>
          <a:xfrm>
            <a:off x="24789384" y="6590740"/>
            <a:ext cx="1051560" cy="232925"/>
          </a:xfrm>
          <a:prstGeom prst="rect">
            <a:avLst/>
          </a:prstGeom>
          <a:noFill/>
        </p:spPr>
        <p:txBody>
          <a:bodyPr wrap="square" lIns="0" rIns="0" tIns="0" bIns="0">
            <a:spAutoFit/>
          </a:bodyPr>
          <a:lstStyle/>
          <a:p>
            <a:pPr algn="ctr">
              <a:lnSpc>
                <a:spcPct val="102000"/>
              </a:lnSpc>
              <a:spcAft>
                <a:spcPts val="0"/>
              </a:spcAft>
            </a:pPr>
            <a:r>
              <a:rPr sz="684" b="1" i="0">
                <a:solidFill>
                  <a:srgbClr val="2B4796"/>
                </a:solidFill>
                <a:latin typeface="Verdana"/>
              </a:rPr>
              <a:t>message
subscription</a:t>
            </a:r>
          </a:p>
        </p:txBody>
      </p:sp>
      <p:sp>
        <p:nvSpPr>
          <p:cNvPr id="222" name="Rectangle 221"/>
          <p:cNvSpPr/>
          <p:nvPr/>
        </p:nvSpPr>
        <p:spPr>
          <a:xfrm>
            <a:off x="22402800" y="7436560"/>
            <a:ext cx="2331720" cy="585216"/>
          </a:xfrm>
          <a:prstGeom prst="rect">
            <a:avLst/>
          </a:prstGeom>
          <a:solidFill>
            <a:srgbClr val="FFFFFF"/>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 name="TextBox 222"/>
          <p:cNvSpPr txBox="1"/>
          <p:nvPr/>
        </p:nvSpPr>
        <p:spPr>
          <a:xfrm>
            <a:off x="22549104" y="7537144"/>
            <a:ext cx="2039112" cy="159851"/>
          </a:xfrm>
          <a:prstGeom prst="rect">
            <a:avLst/>
          </a:prstGeom>
          <a:noFill/>
        </p:spPr>
        <p:txBody>
          <a:bodyPr wrap="square" lIns="0" rIns="0" tIns="0" bIns="0">
            <a:spAutoFit/>
          </a:bodyPr>
          <a:lstStyle/>
          <a:p>
            <a:pPr algn="l">
              <a:lnSpc>
                <a:spcPct val="105000"/>
              </a:lnSpc>
              <a:spcAft>
                <a:spcPts val="0"/>
              </a:spcAft>
            </a:pPr>
            <a:r>
              <a:rPr sz="912" b="1" i="0">
                <a:solidFill>
                  <a:srgbClr val="171A21"/>
                </a:solidFill>
                <a:latin typeface="Verdana"/>
              </a:rPr>
              <a:t>Identity management</a:t>
            </a:r>
          </a:p>
        </p:txBody>
      </p:sp>
      <p:sp>
        <p:nvSpPr>
          <p:cNvPr id="224" name="TextBox 223"/>
          <p:cNvSpPr txBox="1"/>
          <p:nvPr/>
        </p:nvSpPr>
        <p:spPr>
          <a:xfrm>
            <a:off x="22549104" y="7784032"/>
            <a:ext cx="2039112"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user + role</a:t>
            </a:r>
          </a:p>
        </p:txBody>
      </p:sp>
      <p:sp>
        <p:nvSpPr>
          <p:cNvPr id="225" name="Rectangle 224"/>
          <p:cNvSpPr/>
          <p:nvPr/>
        </p:nvSpPr>
        <p:spPr>
          <a:xfrm>
            <a:off x="24734520" y="7706308"/>
            <a:ext cx="118872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 name="Rectangle 225"/>
          <p:cNvSpPr/>
          <p:nvPr/>
        </p:nvSpPr>
        <p:spPr>
          <a:xfrm>
            <a:off x="25850088" y="7656016"/>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 name="TextBox 226"/>
          <p:cNvSpPr txBox="1"/>
          <p:nvPr/>
        </p:nvSpPr>
        <p:spPr>
          <a:xfrm>
            <a:off x="24789384" y="7303972"/>
            <a:ext cx="1051560" cy="232925"/>
          </a:xfrm>
          <a:prstGeom prst="rect">
            <a:avLst/>
          </a:prstGeom>
          <a:noFill/>
        </p:spPr>
        <p:txBody>
          <a:bodyPr wrap="square" lIns="0" rIns="0" tIns="0" bIns="0">
            <a:spAutoFit/>
          </a:bodyPr>
          <a:lstStyle/>
          <a:p>
            <a:pPr algn="ctr">
              <a:lnSpc>
                <a:spcPct val="102000"/>
              </a:lnSpc>
              <a:spcAft>
                <a:spcPts val="0"/>
              </a:spcAft>
            </a:pPr>
            <a:r>
              <a:rPr sz="684" b="1" i="0">
                <a:solidFill>
                  <a:srgbClr val="2B4796"/>
                </a:solidFill>
                <a:latin typeface="Verdana"/>
              </a:rPr>
              <a:t>user–encounter
join key</a:t>
            </a:r>
          </a:p>
        </p:txBody>
      </p:sp>
      <p:sp>
        <p:nvSpPr>
          <p:cNvPr id="228" name="Rectangle 227"/>
          <p:cNvSpPr/>
          <p:nvPr/>
        </p:nvSpPr>
        <p:spPr>
          <a:xfrm>
            <a:off x="22402800" y="8149792"/>
            <a:ext cx="2331720" cy="585216"/>
          </a:xfrm>
          <a:prstGeom prst="rect">
            <a:avLst/>
          </a:prstGeom>
          <a:solidFill>
            <a:srgbClr val="FFFFFF"/>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 name="TextBox 228"/>
          <p:cNvSpPr txBox="1"/>
          <p:nvPr/>
        </p:nvSpPr>
        <p:spPr>
          <a:xfrm>
            <a:off x="22549104" y="8250376"/>
            <a:ext cx="2039112" cy="159851"/>
          </a:xfrm>
          <a:prstGeom prst="rect">
            <a:avLst/>
          </a:prstGeom>
          <a:noFill/>
        </p:spPr>
        <p:txBody>
          <a:bodyPr wrap="square" lIns="0" rIns="0" tIns="0" bIns="0">
            <a:spAutoFit/>
          </a:bodyPr>
          <a:lstStyle/>
          <a:p>
            <a:pPr algn="l">
              <a:lnSpc>
                <a:spcPct val="105000"/>
              </a:lnSpc>
              <a:spcAft>
                <a:spcPts val="0"/>
              </a:spcAft>
            </a:pPr>
            <a:r>
              <a:rPr sz="912" b="1" i="0">
                <a:solidFill>
                  <a:srgbClr val="171A21"/>
                </a:solidFill>
                <a:latin typeface="Verdana"/>
              </a:rPr>
              <a:t>AI tools in use</a:t>
            </a:r>
          </a:p>
        </p:txBody>
      </p:sp>
      <p:sp>
        <p:nvSpPr>
          <p:cNvPr id="230" name="TextBox 229"/>
          <p:cNvSpPr txBox="1"/>
          <p:nvPr/>
        </p:nvSpPr>
        <p:spPr>
          <a:xfrm>
            <a:off x="22549104" y="8497264"/>
            <a:ext cx="2039112"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calls and outputs</a:t>
            </a:r>
          </a:p>
        </p:txBody>
      </p:sp>
      <p:sp>
        <p:nvSpPr>
          <p:cNvPr id="231" name="Rectangle 230"/>
          <p:cNvSpPr/>
          <p:nvPr/>
        </p:nvSpPr>
        <p:spPr>
          <a:xfrm>
            <a:off x="24734520" y="8419540"/>
            <a:ext cx="118872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 name="Rectangle 231"/>
          <p:cNvSpPr/>
          <p:nvPr/>
        </p:nvSpPr>
        <p:spPr>
          <a:xfrm>
            <a:off x="25850088" y="8369248"/>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 name="TextBox 232"/>
          <p:cNvSpPr txBox="1"/>
          <p:nvPr/>
        </p:nvSpPr>
        <p:spPr>
          <a:xfrm>
            <a:off x="24789384" y="8017204"/>
            <a:ext cx="1051560" cy="232925"/>
          </a:xfrm>
          <a:prstGeom prst="rect">
            <a:avLst/>
          </a:prstGeom>
          <a:noFill/>
        </p:spPr>
        <p:txBody>
          <a:bodyPr wrap="square" lIns="0" rIns="0" tIns="0" bIns="0">
            <a:spAutoFit/>
          </a:bodyPr>
          <a:lstStyle/>
          <a:p>
            <a:pPr algn="ctr">
              <a:lnSpc>
                <a:spcPct val="102000"/>
              </a:lnSpc>
              <a:spcAft>
                <a:spcPts val="0"/>
              </a:spcAft>
            </a:pPr>
            <a:r>
              <a:rPr sz="684" b="1" i="0">
                <a:solidFill>
                  <a:srgbClr val="2B4796"/>
                </a:solidFill>
                <a:latin typeface="Verdana"/>
              </a:rPr>
              <a:t>wrapper, or
contracted feed</a:t>
            </a:r>
          </a:p>
        </p:txBody>
      </p:sp>
      <p:sp>
        <p:nvSpPr>
          <p:cNvPr id="234" name="Rectangle 233"/>
          <p:cNvSpPr/>
          <p:nvPr/>
        </p:nvSpPr>
        <p:spPr>
          <a:xfrm>
            <a:off x="25923240" y="6366712"/>
            <a:ext cx="2148840" cy="2011680"/>
          </a:xfrm>
          <a:prstGeom prst="rect">
            <a:avLst/>
          </a:prstGeom>
          <a:solidFill>
            <a:srgbClr val="1626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 name="TextBox 234"/>
          <p:cNvSpPr txBox="1"/>
          <p:nvPr/>
        </p:nvSpPr>
        <p:spPr>
          <a:xfrm>
            <a:off x="26087832" y="6549592"/>
            <a:ext cx="1819656" cy="154649"/>
          </a:xfrm>
          <a:prstGeom prst="rect">
            <a:avLst/>
          </a:prstGeom>
          <a:noFill/>
        </p:spPr>
        <p:txBody>
          <a:bodyPr wrap="square" lIns="0" rIns="0" tIns="0" bIns="0">
            <a:spAutoFit/>
          </a:bodyPr>
          <a:lstStyle/>
          <a:p>
            <a:pPr algn="l">
              <a:lnSpc>
                <a:spcPct val="106000"/>
              </a:lnSpc>
              <a:spcAft>
                <a:spcPts val="0"/>
              </a:spcAft>
            </a:pPr>
            <a:r>
              <a:rPr sz="874" b="1" i="0">
                <a:solidFill>
                  <a:srgbClr val="9AAEE0"/>
                </a:solidFill>
                <a:latin typeface="Verdana"/>
              </a:rPr>
              <a:t>AI GOVERNANCE RECORD</a:t>
            </a:r>
          </a:p>
        </p:txBody>
      </p:sp>
      <p:sp>
        <p:nvSpPr>
          <p:cNvPr id="236" name="TextBox 235"/>
          <p:cNvSpPr txBox="1"/>
          <p:nvPr/>
        </p:nvSpPr>
        <p:spPr>
          <a:xfrm>
            <a:off x="26087832" y="6878776"/>
            <a:ext cx="1819656" cy="362836"/>
          </a:xfrm>
          <a:prstGeom prst="rect">
            <a:avLst/>
          </a:prstGeom>
          <a:noFill/>
        </p:spPr>
        <p:txBody>
          <a:bodyPr wrap="square" lIns="0" rIns="0" tIns="0" bIns="0">
            <a:spAutoFit/>
          </a:bodyPr>
          <a:lstStyle/>
          <a:p>
            <a:pPr algn="l">
              <a:lnSpc>
                <a:spcPct val="110000"/>
              </a:lnSpc>
              <a:spcAft>
                <a:spcPts val="0"/>
              </a:spcAft>
            </a:pPr>
            <a:r>
              <a:rPr sz="988" b="1" i="0">
                <a:solidFill>
                  <a:srgbClr val="FFFFFF"/>
                </a:solidFill>
                <a:latin typeface="Verdana"/>
              </a:rPr>
              <a:t>One row per
AI interaction</a:t>
            </a:r>
          </a:p>
        </p:txBody>
      </p:sp>
      <p:sp>
        <p:nvSpPr>
          <p:cNvPr id="237" name="TextBox 236"/>
          <p:cNvSpPr txBox="1"/>
          <p:nvPr/>
        </p:nvSpPr>
        <p:spPr>
          <a:xfrm>
            <a:off x="26087832" y="7372552"/>
            <a:ext cx="1819656" cy="549583"/>
          </a:xfrm>
          <a:prstGeom prst="rect">
            <a:avLst/>
          </a:prstGeom>
          <a:noFill/>
        </p:spPr>
        <p:txBody>
          <a:bodyPr wrap="square" lIns="0" rIns="0" tIns="0" bIns="0">
            <a:spAutoFit/>
          </a:bodyPr>
          <a:lstStyle/>
          <a:p>
            <a:pPr algn="l">
              <a:lnSpc>
                <a:spcPct val="114000"/>
              </a:lnSpc>
              <a:spcAft>
                <a:spcPts val="0"/>
              </a:spcAft>
            </a:pPr>
            <a:r>
              <a:rPr sz="722" b="0" i="0">
                <a:solidFill>
                  <a:srgbClr val="A8BCE4"/>
                </a:solidFill>
                <a:latin typeface="Verdana"/>
              </a:rPr>
              <a:t>Stores pointers and
hashes — never a
second copy of the
patient chart.</a:t>
            </a:r>
          </a:p>
        </p:txBody>
      </p:sp>
      <p:sp>
        <p:nvSpPr>
          <p:cNvPr id="238" name="Rectangle 237"/>
          <p:cNvSpPr/>
          <p:nvPr/>
        </p:nvSpPr>
        <p:spPr>
          <a:xfrm>
            <a:off x="29123640" y="6010096"/>
            <a:ext cx="2057400" cy="585216"/>
          </a:xfrm>
          <a:prstGeom prst="rect">
            <a:avLst/>
          </a:prstGeom>
          <a:solidFill>
            <a:srgbClr val="E8ECF8"/>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 name="TextBox 238"/>
          <p:cNvSpPr txBox="1"/>
          <p:nvPr/>
        </p:nvSpPr>
        <p:spPr>
          <a:xfrm>
            <a:off x="29260800" y="6110680"/>
            <a:ext cx="1783080" cy="153190"/>
          </a:xfrm>
          <a:prstGeom prst="rect">
            <a:avLst/>
          </a:prstGeom>
          <a:noFill/>
        </p:spPr>
        <p:txBody>
          <a:bodyPr wrap="square" lIns="0" rIns="0" tIns="0" bIns="0">
            <a:spAutoFit/>
          </a:bodyPr>
          <a:lstStyle/>
          <a:p>
            <a:pPr algn="l">
              <a:lnSpc>
                <a:spcPct val="105000"/>
              </a:lnSpc>
              <a:spcAft>
                <a:spcPts val="0"/>
              </a:spcAft>
            </a:pPr>
            <a:r>
              <a:rPr sz="874" b="1" i="0">
                <a:solidFill>
                  <a:srgbClr val="171A21"/>
                </a:solidFill>
                <a:latin typeface="Verdana"/>
              </a:rPr>
              <a:t>AI governance committee</a:t>
            </a:r>
          </a:p>
        </p:txBody>
      </p:sp>
      <p:sp>
        <p:nvSpPr>
          <p:cNvPr id="240" name="TextBox 239"/>
          <p:cNvSpPr txBox="1"/>
          <p:nvPr/>
        </p:nvSpPr>
        <p:spPr>
          <a:xfrm>
            <a:off x="29260800" y="6357568"/>
            <a:ext cx="1783080"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review + suspend</a:t>
            </a:r>
          </a:p>
        </p:txBody>
      </p:sp>
      <p:sp>
        <p:nvSpPr>
          <p:cNvPr id="241" name="Rectangle 240"/>
          <p:cNvSpPr/>
          <p:nvPr/>
        </p:nvSpPr>
        <p:spPr>
          <a:xfrm>
            <a:off x="28072080" y="6279844"/>
            <a:ext cx="105156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 name="Rectangle 241"/>
          <p:cNvSpPr/>
          <p:nvPr/>
        </p:nvSpPr>
        <p:spPr>
          <a:xfrm>
            <a:off x="29050488" y="6229552"/>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 name="Rectangle 242"/>
          <p:cNvSpPr/>
          <p:nvPr/>
        </p:nvSpPr>
        <p:spPr>
          <a:xfrm>
            <a:off x="29123640" y="6723328"/>
            <a:ext cx="2057400" cy="585216"/>
          </a:xfrm>
          <a:prstGeom prst="rect">
            <a:avLst/>
          </a:prstGeom>
          <a:solidFill>
            <a:srgbClr val="E8ECF8"/>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 name="TextBox 243"/>
          <p:cNvSpPr txBox="1"/>
          <p:nvPr/>
        </p:nvSpPr>
        <p:spPr>
          <a:xfrm>
            <a:off x="29260800" y="6823912"/>
            <a:ext cx="1783080" cy="153190"/>
          </a:xfrm>
          <a:prstGeom prst="rect">
            <a:avLst/>
          </a:prstGeom>
          <a:noFill/>
        </p:spPr>
        <p:txBody>
          <a:bodyPr wrap="square" lIns="0" rIns="0" tIns="0" bIns="0">
            <a:spAutoFit/>
          </a:bodyPr>
          <a:lstStyle/>
          <a:p>
            <a:pPr algn="l">
              <a:lnSpc>
                <a:spcPct val="105000"/>
              </a:lnSpc>
              <a:spcAft>
                <a:spcPts val="0"/>
              </a:spcAft>
            </a:pPr>
            <a:r>
              <a:rPr sz="874" b="1" i="0">
                <a:solidFill>
                  <a:srgbClr val="171A21"/>
                </a:solidFill>
                <a:latin typeface="Verdana"/>
              </a:rPr>
              <a:t>Compliance &amp; audit</a:t>
            </a:r>
          </a:p>
        </p:txBody>
      </p:sp>
      <p:sp>
        <p:nvSpPr>
          <p:cNvPr id="245" name="TextBox 244"/>
          <p:cNvSpPr txBox="1"/>
          <p:nvPr/>
        </p:nvSpPr>
        <p:spPr>
          <a:xfrm>
            <a:off x="29260800" y="7070800"/>
            <a:ext cx="1783080"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evidence on demand</a:t>
            </a:r>
          </a:p>
        </p:txBody>
      </p:sp>
      <p:sp>
        <p:nvSpPr>
          <p:cNvPr id="246" name="Rectangle 245"/>
          <p:cNvSpPr/>
          <p:nvPr/>
        </p:nvSpPr>
        <p:spPr>
          <a:xfrm>
            <a:off x="28072080" y="6993076"/>
            <a:ext cx="105156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 name="Rectangle 246"/>
          <p:cNvSpPr/>
          <p:nvPr/>
        </p:nvSpPr>
        <p:spPr>
          <a:xfrm>
            <a:off x="29050488" y="6942784"/>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 name="Rectangle 247"/>
          <p:cNvSpPr/>
          <p:nvPr/>
        </p:nvSpPr>
        <p:spPr>
          <a:xfrm>
            <a:off x="29123640" y="7436560"/>
            <a:ext cx="2057400" cy="585216"/>
          </a:xfrm>
          <a:prstGeom prst="rect">
            <a:avLst/>
          </a:prstGeom>
          <a:solidFill>
            <a:srgbClr val="E8ECF8"/>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 name="TextBox 248"/>
          <p:cNvSpPr txBox="1"/>
          <p:nvPr/>
        </p:nvSpPr>
        <p:spPr>
          <a:xfrm>
            <a:off x="29260800" y="7537144"/>
            <a:ext cx="1783080" cy="153190"/>
          </a:xfrm>
          <a:prstGeom prst="rect">
            <a:avLst/>
          </a:prstGeom>
          <a:noFill/>
        </p:spPr>
        <p:txBody>
          <a:bodyPr wrap="square" lIns="0" rIns="0" tIns="0" bIns="0">
            <a:spAutoFit/>
          </a:bodyPr>
          <a:lstStyle/>
          <a:p>
            <a:pPr algn="l">
              <a:lnSpc>
                <a:spcPct val="105000"/>
              </a:lnSpc>
              <a:spcAft>
                <a:spcPts val="0"/>
              </a:spcAft>
            </a:pPr>
            <a:r>
              <a:rPr sz="874" b="1" i="0">
                <a:solidFill>
                  <a:srgbClr val="171A21"/>
                </a:solidFill>
                <a:latin typeface="Verdana"/>
              </a:rPr>
              <a:t>Quality &amp; safety</a:t>
            </a:r>
          </a:p>
        </p:txBody>
      </p:sp>
      <p:sp>
        <p:nvSpPr>
          <p:cNvPr id="250" name="TextBox 249"/>
          <p:cNvSpPr txBox="1"/>
          <p:nvPr/>
        </p:nvSpPr>
        <p:spPr>
          <a:xfrm>
            <a:off x="29260800" y="7784032"/>
            <a:ext cx="1783080"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drift, override rates</a:t>
            </a:r>
          </a:p>
        </p:txBody>
      </p:sp>
      <p:sp>
        <p:nvSpPr>
          <p:cNvPr id="251" name="Rectangle 250"/>
          <p:cNvSpPr/>
          <p:nvPr/>
        </p:nvSpPr>
        <p:spPr>
          <a:xfrm>
            <a:off x="28072080" y="7706308"/>
            <a:ext cx="105156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 name="Rectangle 251"/>
          <p:cNvSpPr/>
          <p:nvPr/>
        </p:nvSpPr>
        <p:spPr>
          <a:xfrm>
            <a:off x="29050488" y="7656016"/>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3" name="Rectangle 252"/>
          <p:cNvSpPr/>
          <p:nvPr/>
        </p:nvSpPr>
        <p:spPr>
          <a:xfrm>
            <a:off x="29123640" y="8149792"/>
            <a:ext cx="2057400" cy="585216"/>
          </a:xfrm>
          <a:prstGeom prst="rect">
            <a:avLst/>
          </a:prstGeom>
          <a:solidFill>
            <a:srgbClr val="E8ECF8"/>
          </a:solidFill>
          <a:ln w="15875">
            <a:solidFill>
              <a:srgbClr val="2B479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4" name="TextBox 253"/>
          <p:cNvSpPr txBox="1"/>
          <p:nvPr/>
        </p:nvSpPr>
        <p:spPr>
          <a:xfrm>
            <a:off x="29260800" y="8250376"/>
            <a:ext cx="1783080" cy="153190"/>
          </a:xfrm>
          <a:prstGeom prst="rect">
            <a:avLst/>
          </a:prstGeom>
          <a:noFill/>
        </p:spPr>
        <p:txBody>
          <a:bodyPr wrap="square" lIns="0" rIns="0" tIns="0" bIns="0">
            <a:spAutoFit/>
          </a:bodyPr>
          <a:lstStyle/>
          <a:p>
            <a:pPr algn="l">
              <a:lnSpc>
                <a:spcPct val="105000"/>
              </a:lnSpc>
              <a:spcAft>
                <a:spcPts val="0"/>
              </a:spcAft>
            </a:pPr>
            <a:r>
              <a:rPr sz="874" b="1" i="0">
                <a:solidFill>
                  <a:srgbClr val="171A21"/>
                </a:solidFill>
                <a:latin typeface="Verdana"/>
              </a:rPr>
              <a:t>Vendor management</a:t>
            </a:r>
          </a:p>
        </p:txBody>
      </p:sp>
      <p:sp>
        <p:nvSpPr>
          <p:cNvPr id="255" name="TextBox 254"/>
          <p:cNvSpPr txBox="1"/>
          <p:nvPr/>
        </p:nvSpPr>
        <p:spPr>
          <a:xfrm>
            <a:off x="29260800" y="8497264"/>
            <a:ext cx="1783080" cy="127753"/>
          </a:xfrm>
          <a:prstGeom prst="rect">
            <a:avLst/>
          </a:prstGeom>
          <a:noFill/>
        </p:spPr>
        <p:txBody>
          <a:bodyPr wrap="square" lIns="0" rIns="0" tIns="0" bIns="0">
            <a:spAutoFit/>
          </a:bodyPr>
          <a:lstStyle/>
          <a:p>
            <a:pPr algn="l">
              <a:lnSpc>
                <a:spcPct val="106000"/>
              </a:lnSpc>
              <a:spcAft>
                <a:spcPts val="0"/>
              </a:spcAft>
            </a:pPr>
            <a:r>
              <a:rPr sz="722" b="0" i="0">
                <a:solidFill>
                  <a:srgbClr val="4C5566"/>
                </a:solidFill>
                <a:latin typeface="Verdana"/>
              </a:rPr>
              <a:t>contract enforcement</a:t>
            </a:r>
          </a:p>
        </p:txBody>
      </p:sp>
      <p:sp>
        <p:nvSpPr>
          <p:cNvPr id="256" name="Rectangle 255"/>
          <p:cNvSpPr/>
          <p:nvPr/>
        </p:nvSpPr>
        <p:spPr>
          <a:xfrm>
            <a:off x="28072080" y="8419540"/>
            <a:ext cx="1051560" cy="45720"/>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7" name="Rectangle 256"/>
          <p:cNvSpPr/>
          <p:nvPr/>
        </p:nvSpPr>
        <p:spPr>
          <a:xfrm>
            <a:off x="29050488" y="8369248"/>
            <a:ext cx="146304" cy="146304"/>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8" name="TextBox 257"/>
          <p:cNvSpPr txBox="1"/>
          <p:nvPr/>
        </p:nvSpPr>
        <p:spPr>
          <a:xfrm>
            <a:off x="28090368" y="8789872"/>
            <a:ext cx="1051560" cy="121030"/>
          </a:xfrm>
          <a:prstGeom prst="rect">
            <a:avLst/>
          </a:prstGeom>
          <a:noFill/>
        </p:spPr>
        <p:txBody>
          <a:bodyPr wrap="square" lIns="0" rIns="0" tIns="0" bIns="0">
            <a:spAutoFit/>
          </a:bodyPr>
          <a:lstStyle/>
          <a:p>
            <a:pPr algn="ctr">
              <a:lnSpc>
                <a:spcPct val="106000"/>
              </a:lnSpc>
              <a:spcAft>
                <a:spcPts val="0"/>
              </a:spcAft>
            </a:pPr>
            <a:r>
              <a:rPr sz="684" b="1" i="0">
                <a:solidFill>
                  <a:srgbClr val="2B4796"/>
                </a:solidFill>
                <a:latin typeface="Verdana"/>
              </a:rPr>
              <a:t>queries</a:t>
            </a:r>
          </a:p>
        </p:txBody>
      </p:sp>
      <p:sp>
        <p:nvSpPr>
          <p:cNvPr id="259" name="TextBox 258"/>
          <p:cNvSpPr txBox="1"/>
          <p:nvPr/>
        </p:nvSpPr>
        <p:spPr>
          <a:xfrm>
            <a:off x="22402800" y="8789872"/>
            <a:ext cx="2331720" cy="127753"/>
          </a:xfrm>
          <a:prstGeom prst="rect">
            <a:avLst/>
          </a:prstGeom>
          <a:noFill/>
        </p:spPr>
        <p:txBody>
          <a:bodyPr wrap="square" lIns="0" rIns="0" tIns="0" bIns="0">
            <a:spAutoFit/>
          </a:bodyPr>
          <a:lstStyle/>
          <a:p>
            <a:pPr algn="l">
              <a:lnSpc>
                <a:spcPct val="106000"/>
              </a:lnSpc>
              <a:spcAft>
                <a:spcPts val="0"/>
              </a:spcAft>
            </a:pPr>
            <a:r>
              <a:rPr sz="722" b="1" i="0">
                <a:solidFill>
                  <a:srgbClr val="4C5566"/>
                </a:solidFill>
                <a:latin typeface="Verdana"/>
              </a:rPr>
              <a:t>SYSTEMS YOU ALREADY RUN</a:t>
            </a:r>
          </a:p>
        </p:txBody>
      </p:sp>
      <p:sp>
        <p:nvSpPr>
          <p:cNvPr id="260" name="TextBox 259"/>
          <p:cNvSpPr txBox="1"/>
          <p:nvPr/>
        </p:nvSpPr>
        <p:spPr>
          <a:xfrm>
            <a:off x="29123640" y="8789872"/>
            <a:ext cx="2057400" cy="127753"/>
          </a:xfrm>
          <a:prstGeom prst="rect">
            <a:avLst/>
          </a:prstGeom>
          <a:noFill/>
        </p:spPr>
        <p:txBody>
          <a:bodyPr wrap="square" lIns="0" rIns="0" tIns="0" bIns="0">
            <a:spAutoFit/>
          </a:bodyPr>
          <a:lstStyle/>
          <a:p>
            <a:pPr algn="l">
              <a:lnSpc>
                <a:spcPct val="106000"/>
              </a:lnSpc>
              <a:spcAft>
                <a:spcPts val="0"/>
              </a:spcAft>
            </a:pPr>
            <a:r>
              <a:rPr sz="722" b="1" i="0">
                <a:solidFill>
                  <a:srgbClr val="4C5566"/>
                </a:solidFill>
                <a:latin typeface="Verdana"/>
              </a:rPr>
              <a:t>FUNCTIONS THAT READ IT</a:t>
            </a:r>
          </a:p>
        </p:txBody>
      </p:sp>
      <p:sp>
        <p:nvSpPr>
          <p:cNvPr id="261" name="TextBox 260"/>
          <p:cNvSpPr txBox="1"/>
          <p:nvPr/>
        </p:nvSpPr>
        <p:spPr>
          <a:xfrm>
            <a:off x="22677119" y="9119056"/>
            <a:ext cx="8668512" cy="554150"/>
          </a:xfrm>
          <a:prstGeom prst="rect">
            <a:avLst/>
          </a:prstGeom>
          <a:noFill/>
        </p:spPr>
        <p:txBody>
          <a:bodyPr wrap="square" lIns="0" rIns="0" tIns="0" bIns="0">
            <a:spAutoFit/>
          </a:bodyPr>
          <a:lstStyle/>
          <a:p>
            <a:pPr algn="l">
              <a:lnSpc>
                <a:spcPct val="112000"/>
              </a:lnSpc>
              <a:spcAft>
                <a:spcPts val="0"/>
              </a:spcAft>
            </a:pPr>
            <a:r>
              <a:rPr sz="988" b="1" i="0">
                <a:solidFill>
                  <a:srgbClr val="171A21"/>
                </a:solidFill>
                <a:latin typeface="Verdana"/>
              </a:rPr>
              <a:t>Worked example — a sepsis alert at 03:14.  </a:t>
            </a:r>
            <a:r>
              <a:rPr sz="988" b="0" i="0">
                <a:solidFill>
                  <a:srgbClr val="171A21"/>
                </a:solidFill>
                <a:latin typeface="Verdana"/>
              </a:rPr>
              <a:t>Today the model's score lands in a system log, disconnected from the patient; six months later nobody can say whether the nurse acted or whether the model works here. With one record, the patient, nurse, model version, alert, response and outcome sit in one row.</a:t>
            </a:r>
          </a:p>
        </p:txBody>
      </p:sp>
      <p:sp>
        <p:nvSpPr>
          <p:cNvPr id="266" name="TextBox 265"/>
          <p:cNvSpPr txBox="1"/>
          <p:nvPr/>
        </p:nvSpPr>
        <p:spPr>
          <a:xfrm>
            <a:off x="22384511" y="10587606"/>
            <a:ext cx="9253728" cy="194992"/>
          </a:xfrm>
          <a:prstGeom prst="rect">
            <a:avLst/>
          </a:prstGeom>
          <a:noFill/>
        </p:spPr>
        <p:txBody>
          <a:bodyPr wrap="square" lIns="0" rIns="0" tIns="0" bIns="0">
            <a:spAutoFit/>
          </a:bodyPr>
          <a:lstStyle/>
          <a:p>
            <a:pPr algn="l">
              <a:lnSpc>
                <a:spcPct val="106000"/>
              </a:lnSpc>
              <a:spcAft>
                <a:spcPts val="0"/>
              </a:spcAft>
            </a:pPr>
            <a:r>
              <a:rPr sz="1102" b="1" i="0">
                <a:solidFill>
                  <a:srgbClr val="2B4796"/>
                </a:solidFill>
                <a:latin typeface="Verdana"/>
              </a:rPr>
              <a:t>WHY THIS IS AFFORDABLE</a:t>
            </a:r>
          </a:p>
        </p:txBody>
      </p:sp>
      <p:sp>
        <p:nvSpPr>
          <p:cNvPr id="267" name="TextBox 266"/>
          <p:cNvSpPr txBox="1"/>
          <p:nvPr/>
        </p:nvSpPr>
        <p:spPr>
          <a:xfrm>
            <a:off x="22384511" y="10846607"/>
            <a:ext cx="9253728" cy="298388"/>
          </a:xfrm>
          <a:prstGeom prst="rect">
            <a:avLst/>
          </a:prstGeom>
          <a:noFill/>
        </p:spPr>
        <p:txBody>
          <a:bodyPr wrap="square" lIns="0" rIns="0" tIns="0" bIns="0">
            <a:spAutoFit/>
          </a:bodyPr>
          <a:lstStyle/>
          <a:p>
            <a:pPr algn="l">
              <a:lnSpc>
                <a:spcPct val="98000"/>
              </a:lnSpc>
              <a:spcAft>
                <a:spcPts val="0"/>
              </a:spcAft>
            </a:pPr>
            <a:r>
              <a:rPr sz="1824" b="1" i="0">
                <a:solidFill>
                  <a:srgbClr val="171A21"/>
                </a:solidFill>
                <a:latin typeface="Verdana"/>
              </a:rPr>
              <a:t>Two observations that make it work</a:t>
            </a:r>
          </a:p>
        </p:txBody>
      </p:sp>
      <p:sp>
        <p:nvSpPr>
          <p:cNvPr id="268" name="TextBox 267"/>
          <p:cNvSpPr txBox="1"/>
          <p:nvPr/>
        </p:nvSpPr>
        <p:spPr>
          <a:xfrm>
            <a:off x="22658831" y="11291300"/>
            <a:ext cx="8705088" cy="154649"/>
          </a:xfrm>
          <a:prstGeom prst="rect">
            <a:avLst/>
          </a:prstGeom>
          <a:noFill/>
        </p:spPr>
        <p:txBody>
          <a:bodyPr wrap="square" lIns="0" rIns="0" tIns="0" bIns="0">
            <a:spAutoFit/>
          </a:bodyPr>
          <a:lstStyle/>
          <a:p>
            <a:pPr algn="l">
              <a:lnSpc>
                <a:spcPct val="106000"/>
              </a:lnSpc>
              <a:spcAft>
                <a:spcPts val="0"/>
              </a:spcAft>
            </a:pPr>
            <a:r>
              <a:rPr sz="874" b="1" i="0">
                <a:solidFill>
                  <a:srgbClr val="2F6B48"/>
                </a:solidFill>
                <a:latin typeface="Verdana"/>
              </a:rPr>
              <a:t>THE RULES ARE FREE. THE AUDIT IS WHAT COSTS MONEY.</a:t>
            </a:r>
          </a:p>
        </p:txBody>
      </p:sp>
      <p:sp>
        <p:nvSpPr>
          <p:cNvPr id="269" name="TextBox 268"/>
          <p:cNvSpPr txBox="1"/>
          <p:nvPr/>
        </p:nvSpPr>
        <p:spPr>
          <a:xfrm>
            <a:off x="22658831" y="11500813"/>
            <a:ext cx="8705088" cy="554150"/>
          </a:xfrm>
          <a:prstGeom prst="rect">
            <a:avLst/>
          </a:prstGeom>
          <a:noFill/>
        </p:spPr>
        <p:txBody>
          <a:bodyPr wrap="square" lIns="0" rIns="0" tIns="0" bIns="0">
            <a:spAutoFit/>
          </a:bodyPr>
          <a:lstStyle/>
          <a:p>
            <a:pPr algn="l">
              <a:lnSpc>
                <a:spcPct val="112000"/>
              </a:lnSpc>
              <a:spcAft>
                <a:spcPts val="0"/>
              </a:spcAft>
            </a:pPr>
            <a:r>
              <a:rPr sz="988" b="0" i="0">
                <a:solidFill>
                  <a:srgbClr val="171A21"/>
                </a:solidFill>
                <a:latin typeface="Verdana"/>
              </a:rPr>
              <a:t>A framework is a </a:t>
            </a:r>
            <a:r>
              <a:rPr sz="988" b="1" i="0">
                <a:solidFill>
                  <a:srgbClr val="171A21"/>
                </a:solidFill>
                <a:latin typeface="Verdana"/>
              </a:rPr>
              <a:t>free published list of controls</a:t>
            </a:r>
            <a:r>
              <a:rPr sz="988" b="0" i="0">
                <a:solidFill>
                  <a:srgbClr val="171A21"/>
                </a:solidFill>
                <a:latin typeface="Verdana"/>
              </a:rPr>
              <a:t> plus a </a:t>
            </a:r>
            <a:r>
              <a:rPr sz="988" b="1" i="0">
                <a:solidFill>
                  <a:srgbClr val="171A21"/>
                </a:solidFill>
                <a:latin typeface="Verdana"/>
              </a:rPr>
              <a:t>third-party audit</a:t>
            </a:r>
            <a:r>
              <a:rPr sz="988" b="0" i="0">
                <a:solidFill>
                  <a:srgbClr val="171A21"/>
                </a:solidFill>
                <a:latin typeface="Verdana"/>
              </a:rPr>
              <a:t> proving you follow them — and the audit is the $35K–$1M. A hospital that cannot afford the audit can still implement the controls: it loses the certificate, not the protection.</a:t>
            </a:r>
          </a:p>
        </p:txBody>
      </p:sp>
      <p:sp>
        <p:nvSpPr>
          <p:cNvPr id="272" name="TextBox 271"/>
          <p:cNvSpPr txBox="1"/>
          <p:nvPr/>
        </p:nvSpPr>
        <p:spPr>
          <a:xfrm>
            <a:off x="22658831" y="12329284"/>
            <a:ext cx="8705088" cy="154649"/>
          </a:xfrm>
          <a:prstGeom prst="rect">
            <a:avLst/>
          </a:prstGeom>
          <a:noFill/>
        </p:spPr>
        <p:txBody>
          <a:bodyPr wrap="square" lIns="0" rIns="0" tIns="0" bIns="0">
            <a:spAutoFit/>
          </a:bodyPr>
          <a:lstStyle/>
          <a:p>
            <a:pPr algn="l">
              <a:lnSpc>
                <a:spcPct val="106000"/>
              </a:lnSpc>
              <a:spcAft>
                <a:spcPts val="0"/>
              </a:spcAft>
            </a:pPr>
            <a:r>
              <a:rPr sz="874" b="1" i="0">
                <a:solidFill>
                  <a:srgbClr val="2B4796"/>
                </a:solidFill>
                <a:latin typeface="Verdana"/>
              </a:rPr>
              <a:t>THE LOGGING IS ALREADY LEGALLY REQUIRED.</a:t>
            </a:r>
          </a:p>
        </p:txBody>
      </p:sp>
      <p:sp>
        <p:nvSpPr>
          <p:cNvPr id="273" name="TextBox 272"/>
          <p:cNvSpPr txBox="1"/>
          <p:nvPr/>
        </p:nvSpPr>
        <p:spPr>
          <a:xfrm>
            <a:off x="22658831" y="12538797"/>
            <a:ext cx="8705088" cy="369433"/>
          </a:xfrm>
          <a:prstGeom prst="rect">
            <a:avLst/>
          </a:prstGeom>
          <a:noFill/>
        </p:spPr>
        <p:txBody>
          <a:bodyPr wrap="square" lIns="0" rIns="0" tIns="0" bIns="0">
            <a:spAutoFit/>
          </a:bodyPr>
          <a:lstStyle/>
          <a:p>
            <a:pPr algn="l">
              <a:lnSpc>
                <a:spcPct val="112000"/>
              </a:lnSpc>
              <a:spcAft>
                <a:spcPts val="0"/>
              </a:spcAft>
            </a:pPr>
            <a:r>
              <a:rPr sz="988" b="0" i="0">
                <a:solidFill>
                  <a:srgbClr val="171A21"/>
                </a:solidFill>
                <a:latin typeface="Verdana"/>
              </a:rPr>
              <a:t>HIPAA has required audit logs — who accessed what, when, for which patient — for twenty years. </a:t>
            </a:r>
            <a:r>
              <a:rPr sz="988" b="1" i="0">
                <a:solidFill>
                  <a:srgbClr val="171A21"/>
                </a:solidFill>
                <a:latin typeface="Verdana"/>
              </a:rPr>
              <a:t>Those are nearly the fields an AI monitor needs.</a:t>
            </a:r>
            <a:r>
              <a:rPr sz="988" b="0" i="0">
                <a:solidFill>
                  <a:srgbClr val="171A21"/>
                </a:solidFill>
                <a:latin typeface="Verdana"/>
              </a:rPr>
              <a:t> The infrastructure is funded; it has never been pointed at AI.</a:t>
            </a:r>
          </a:p>
        </p:txBody>
      </p:sp>
      <p:sp>
        <p:nvSpPr>
          <p:cNvPr id="276" name="TextBox 275"/>
          <p:cNvSpPr txBox="1"/>
          <p:nvPr/>
        </p:nvSpPr>
        <p:spPr>
          <a:xfrm>
            <a:off x="22384511" y="13054535"/>
            <a:ext cx="9253728" cy="362836"/>
          </a:xfrm>
          <a:prstGeom prst="rect">
            <a:avLst/>
          </a:prstGeom>
          <a:noFill/>
        </p:spPr>
        <p:txBody>
          <a:bodyPr wrap="square" lIns="0" rIns="0" tIns="0" bIns="0">
            <a:spAutoFit/>
          </a:bodyPr>
          <a:lstStyle/>
          <a:p>
            <a:pPr algn="l">
              <a:lnSpc>
                <a:spcPct val="110000"/>
              </a:lnSpc>
              <a:spcAft>
                <a:spcPts val="0"/>
              </a:spcAft>
            </a:pPr>
            <a:r>
              <a:rPr sz="988" b="1" i="0">
                <a:solidFill>
                  <a:srgbClr val="171A21"/>
                </a:solidFill>
                <a:latin typeface="Verdana"/>
              </a:rPr>
              <a:t>Cost falls after the first.</a:t>
            </a:r>
            <a:r>
              <a:rPr sz="988" b="0" i="0">
                <a:solidFill>
                  <a:srgbClr val="171A21"/>
                </a:solidFill>
                <a:latin typeface="Verdana"/>
              </a:rPr>
              <a:t>  Capture is paid for once; every added framework is another query over data already recorded.</a:t>
            </a:r>
          </a:p>
        </p:txBody>
      </p:sp>
      <p:sp>
        <p:nvSpPr>
          <p:cNvPr id="279" name="TextBox 278"/>
          <p:cNvSpPr txBox="1"/>
          <p:nvPr/>
        </p:nvSpPr>
        <p:spPr>
          <a:xfrm>
            <a:off x="22384511" y="14167179"/>
            <a:ext cx="9253728" cy="194992"/>
          </a:xfrm>
          <a:prstGeom prst="rect">
            <a:avLst/>
          </a:prstGeom>
          <a:noFill/>
        </p:spPr>
        <p:txBody>
          <a:bodyPr wrap="square" lIns="0" rIns="0" tIns="0" bIns="0">
            <a:spAutoFit/>
          </a:bodyPr>
          <a:lstStyle/>
          <a:p>
            <a:pPr algn="l">
              <a:lnSpc>
                <a:spcPct val="106000"/>
              </a:lnSpc>
              <a:spcAft>
                <a:spcPts val="0"/>
              </a:spcAft>
            </a:pPr>
            <a:r>
              <a:rPr sz="1102" b="1" i="0">
                <a:solidFill>
                  <a:srgbClr val="2B4796"/>
                </a:solidFill>
                <a:latin typeface="Verdana"/>
              </a:rPr>
              <a:t>WHAT AN ORGANIZATION DOES FIRST</a:t>
            </a:r>
          </a:p>
        </p:txBody>
      </p:sp>
      <p:sp>
        <p:nvSpPr>
          <p:cNvPr id="280" name="TextBox 279"/>
          <p:cNvSpPr txBox="1"/>
          <p:nvPr/>
        </p:nvSpPr>
        <p:spPr>
          <a:xfrm>
            <a:off x="22384511" y="14426180"/>
            <a:ext cx="9253728" cy="310821"/>
          </a:xfrm>
          <a:prstGeom prst="rect">
            <a:avLst/>
          </a:prstGeom>
          <a:noFill/>
        </p:spPr>
        <p:txBody>
          <a:bodyPr wrap="square" lIns="0" rIns="0" tIns="0" bIns="0">
            <a:spAutoFit/>
          </a:bodyPr>
          <a:lstStyle/>
          <a:p>
            <a:pPr algn="l">
              <a:lnSpc>
                <a:spcPct val="98000"/>
              </a:lnSpc>
              <a:spcAft>
                <a:spcPts val="0"/>
              </a:spcAft>
            </a:pPr>
            <a:r>
              <a:rPr sz="1900" b="1" i="0">
                <a:solidFill>
                  <a:srgbClr val="171A21"/>
                </a:solidFill>
                <a:latin typeface="Verdana"/>
              </a:rPr>
              <a:t>Start at the tier you can afford</a:t>
            </a:r>
          </a:p>
        </p:txBody>
      </p:sp>
      <p:sp>
        <p:nvSpPr>
          <p:cNvPr id="281" name="TextBox 280"/>
          <p:cNvSpPr txBox="1"/>
          <p:nvPr/>
        </p:nvSpPr>
        <p:spPr>
          <a:xfrm>
            <a:off x="22622256" y="15029609"/>
            <a:ext cx="914400" cy="322746"/>
          </a:xfrm>
          <a:prstGeom prst="rect">
            <a:avLst/>
          </a:prstGeom>
          <a:noFill/>
        </p:spPr>
        <p:txBody>
          <a:bodyPr wrap="square" lIns="0" rIns="0" tIns="0" bIns="0">
            <a:spAutoFit/>
          </a:bodyPr>
          <a:lstStyle/>
          <a:p>
            <a:pPr algn="l">
              <a:lnSpc>
                <a:spcPct val="106000"/>
              </a:lnSpc>
              <a:spcAft>
                <a:spcPts val="0"/>
              </a:spcAft>
            </a:pPr>
            <a:r>
              <a:rPr sz="1824" b="1" i="0">
                <a:solidFill>
                  <a:srgbClr val="2F6B48"/>
                </a:solidFill>
                <a:latin typeface="Consolas"/>
              </a:rPr>
              <a:t>C0</a:t>
            </a:r>
          </a:p>
        </p:txBody>
      </p:sp>
      <p:sp>
        <p:nvSpPr>
          <p:cNvPr id="282" name="TextBox 281"/>
          <p:cNvSpPr txBox="1"/>
          <p:nvPr/>
        </p:nvSpPr>
        <p:spPr>
          <a:xfrm>
            <a:off x="23646384" y="15011321"/>
            <a:ext cx="2743200" cy="188395"/>
          </a:xfrm>
          <a:prstGeom prst="rect">
            <a:avLst/>
          </a:prstGeom>
          <a:noFill/>
        </p:spPr>
        <p:txBody>
          <a:bodyPr wrap="square" lIns="0" rIns="0" tIns="0" bIns="0">
            <a:spAutoFit/>
          </a:bodyPr>
          <a:lstStyle/>
          <a:p>
            <a:pPr algn="l">
              <a:lnSpc>
                <a:spcPct val="110000"/>
              </a:lnSpc>
              <a:spcAft>
                <a:spcPts val="0"/>
              </a:spcAft>
            </a:pPr>
            <a:r>
              <a:rPr sz="1026" b="1" i="0">
                <a:solidFill>
                  <a:srgbClr val="171A21"/>
                </a:solidFill>
                <a:latin typeface="Verdana"/>
              </a:rPr>
              <a:t>Any organization, no budget</a:t>
            </a:r>
          </a:p>
        </p:txBody>
      </p:sp>
      <p:sp>
        <p:nvSpPr>
          <p:cNvPr id="283" name="TextBox 282"/>
          <p:cNvSpPr txBox="1"/>
          <p:nvPr/>
        </p:nvSpPr>
        <p:spPr>
          <a:xfrm>
            <a:off x="26545031" y="14993033"/>
            <a:ext cx="5166360" cy="523321"/>
          </a:xfrm>
          <a:prstGeom prst="rect">
            <a:avLst/>
          </a:prstGeom>
          <a:noFill/>
        </p:spPr>
        <p:txBody>
          <a:bodyPr wrap="square" lIns="0" rIns="0" tIns="0" bIns="0">
            <a:spAutoFit/>
          </a:bodyPr>
          <a:lstStyle/>
          <a:p>
            <a:pPr algn="l">
              <a:lnSpc>
                <a:spcPct val="110000"/>
              </a:lnSpc>
              <a:spcAft>
                <a:spcPts val="0"/>
              </a:spcAft>
            </a:pPr>
            <a:r>
              <a:rPr sz="950" b="0" i="0">
                <a:solidFill>
                  <a:srgbClr val="4C5566"/>
                </a:solidFill>
                <a:latin typeface="Verdana"/>
              </a:rPr>
              <a:t>Read audit logs and message traffic you already keep. Send known test cases through your top three AI tools. Open a channel for staff to report strange output.</a:t>
            </a:r>
          </a:p>
        </p:txBody>
      </p:sp>
      <p:sp>
        <p:nvSpPr>
          <p:cNvPr id="284" name="TextBox 283"/>
          <p:cNvSpPr txBox="1"/>
          <p:nvPr/>
        </p:nvSpPr>
        <p:spPr>
          <a:xfrm>
            <a:off x="26545031" y="15589507"/>
            <a:ext cx="5166360" cy="164418"/>
          </a:xfrm>
          <a:prstGeom prst="rect">
            <a:avLst/>
          </a:prstGeom>
          <a:noFill/>
        </p:spPr>
        <p:txBody>
          <a:bodyPr wrap="square" lIns="0" rIns="0" tIns="0" bIns="0">
            <a:spAutoFit/>
          </a:bodyPr>
          <a:lstStyle/>
          <a:p>
            <a:pPr algn="l">
              <a:lnSpc>
                <a:spcPct val="108000"/>
              </a:lnSpc>
              <a:spcAft>
                <a:spcPts val="0"/>
              </a:spcAft>
            </a:pPr>
            <a:r>
              <a:rPr sz="912" b="1" i="0">
                <a:solidFill>
                  <a:srgbClr val="2F6B48"/>
                </a:solidFill>
                <a:latin typeface="Verdana"/>
              </a:rPr>
              <a:t>No engineers. No vendor cooperation. No new software.</a:t>
            </a:r>
          </a:p>
        </p:txBody>
      </p:sp>
      <p:sp>
        <p:nvSpPr>
          <p:cNvPr id="287" name="TextBox 286"/>
          <p:cNvSpPr txBox="1"/>
          <p:nvPr/>
        </p:nvSpPr>
        <p:spPr>
          <a:xfrm>
            <a:off x="22622256" y="15973381"/>
            <a:ext cx="914400" cy="322746"/>
          </a:xfrm>
          <a:prstGeom prst="rect">
            <a:avLst/>
          </a:prstGeom>
          <a:noFill/>
        </p:spPr>
        <p:txBody>
          <a:bodyPr wrap="square" lIns="0" rIns="0" tIns="0" bIns="0">
            <a:spAutoFit/>
          </a:bodyPr>
          <a:lstStyle/>
          <a:p>
            <a:pPr algn="l">
              <a:lnSpc>
                <a:spcPct val="106000"/>
              </a:lnSpc>
              <a:spcAft>
                <a:spcPts val="0"/>
              </a:spcAft>
            </a:pPr>
            <a:r>
              <a:rPr sz="1824" b="1" i="0">
                <a:solidFill>
                  <a:srgbClr val="2B4796"/>
                </a:solidFill>
                <a:latin typeface="Consolas"/>
              </a:rPr>
              <a:t>C1</a:t>
            </a:r>
          </a:p>
        </p:txBody>
      </p:sp>
      <p:sp>
        <p:nvSpPr>
          <p:cNvPr id="288" name="TextBox 287"/>
          <p:cNvSpPr txBox="1"/>
          <p:nvPr/>
        </p:nvSpPr>
        <p:spPr>
          <a:xfrm>
            <a:off x="23646384" y="15955093"/>
            <a:ext cx="2743200" cy="188395"/>
          </a:xfrm>
          <a:prstGeom prst="rect">
            <a:avLst/>
          </a:prstGeom>
          <a:noFill/>
        </p:spPr>
        <p:txBody>
          <a:bodyPr wrap="square" lIns="0" rIns="0" tIns="0" bIns="0">
            <a:spAutoFit/>
          </a:bodyPr>
          <a:lstStyle/>
          <a:p>
            <a:pPr algn="l">
              <a:lnSpc>
                <a:spcPct val="110000"/>
              </a:lnSpc>
              <a:spcAft>
                <a:spcPts val="0"/>
              </a:spcAft>
            </a:pPr>
            <a:r>
              <a:rPr sz="1026" b="1" i="0">
                <a:solidFill>
                  <a:srgbClr val="171A21"/>
                </a:solidFill>
                <a:latin typeface="Verdana"/>
              </a:rPr>
              <a:t>With an engineering team</a:t>
            </a:r>
          </a:p>
        </p:txBody>
      </p:sp>
      <p:sp>
        <p:nvSpPr>
          <p:cNvPr id="289" name="TextBox 288"/>
          <p:cNvSpPr txBox="1"/>
          <p:nvPr/>
        </p:nvSpPr>
        <p:spPr>
          <a:xfrm>
            <a:off x="26545031" y="15936805"/>
            <a:ext cx="5166360" cy="348881"/>
          </a:xfrm>
          <a:prstGeom prst="rect">
            <a:avLst/>
          </a:prstGeom>
          <a:noFill/>
        </p:spPr>
        <p:txBody>
          <a:bodyPr wrap="square" lIns="0" rIns="0" tIns="0" bIns="0">
            <a:spAutoFit/>
          </a:bodyPr>
          <a:lstStyle/>
          <a:p>
            <a:pPr algn="l">
              <a:lnSpc>
                <a:spcPct val="110000"/>
              </a:lnSpc>
              <a:spcAft>
                <a:spcPts val="0"/>
              </a:spcAft>
            </a:pPr>
            <a:r>
              <a:rPr sz="950" b="0" i="0">
                <a:solidFill>
                  <a:srgbClr val="4C5566"/>
                </a:solidFill>
                <a:latin typeface="Verdana"/>
              </a:rPr>
              <a:t>Add a wrapper around AI systems you control — internal tools, API services, agents.</a:t>
            </a:r>
          </a:p>
        </p:txBody>
      </p:sp>
      <p:sp>
        <p:nvSpPr>
          <p:cNvPr id="290" name="TextBox 289"/>
          <p:cNvSpPr txBox="1"/>
          <p:nvPr/>
        </p:nvSpPr>
        <p:spPr>
          <a:xfrm>
            <a:off x="26545031" y="16358838"/>
            <a:ext cx="5166360" cy="164418"/>
          </a:xfrm>
          <a:prstGeom prst="rect">
            <a:avLst/>
          </a:prstGeom>
          <a:noFill/>
        </p:spPr>
        <p:txBody>
          <a:bodyPr wrap="square" lIns="0" rIns="0" tIns="0" bIns="0">
            <a:spAutoFit/>
          </a:bodyPr>
          <a:lstStyle/>
          <a:p>
            <a:pPr algn="l">
              <a:lnSpc>
                <a:spcPct val="108000"/>
              </a:lnSpc>
              <a:spcAft>
                <a:spcPts val="0"/>
              </a:spcAft>
            </a:pPr>
            <a:r>
              <a:rPr sz="912" b="1" i="0">
                <a:solidFill>
                  <a:srgbClr val="2B4796"/>
                </a:solidFill>
                <a:latin typeface="Verdana"/>
              </a:rPr>
              <a:t>Adds real-time visibility into the call itself.</a:t>
            </a:r>
          </a:p>
        </p:txBody>
      </p:sp>
      <p:sp>
        <p:nvSpPr>
          <p:cNvPr id="293" name="TextBox 292"/>
          <p:cNvSpPr txBox="1"/>
          <p:nvPr/>
        </p:nvSpPr>
        <p:spPr>
          <a:xfrm>
            <a:off x="22622256" y="16832917"/>
            <a:ext cx="914400" cy="322746"/>
          </a:xfrm>
          <a:prstGeom prst="rect">
            <a:avLst/>
          </a:prstGeom>
          <a:noFill/>
        </p:spPr>
        <p:txBody>
          <a:bodyPr wrap="square" lIns="0" rIns="0" tIns="0" bIns="0">
            <a:spAutoFit/>
          </a:bodyPr>
          <a:lstStyle/>
          <a:p>
            <a:pPr algn="l">
              <a:lnSpc>
                <a:spcPct val="106000"/>
              </a:lnSpc>
              <a:spcAft>
                <a:spcPts val="0"/>
              </a:spcAft>
            </a:pPr>
            <a:r>
              <a:rPr sz="1824" b="1" i="0">
                <a:solidFill>
                  <a:srgbClr val="4C5566"/>
                </a:solidFill>
                <a:latin typeface="Consolas"/>
              </a:rPr>
              <a:t>C2</a:t>
            </a:r>
          </a:p>
        </p:txBody>
      </p:sp>
      <p:sp>
        <p:nvSpPr>
          <p:cNvPr id="294" name="TextBox 293"/>
          <p:cNvSpPr txBox="1"/>
          <p:nvPr/>
        </p:nvSpPr>
        <p:spPr>
          <a:xfrm>
            <a:off x="23646384" y="16814629"/>
            <a:ext cx="2743200" cy="188395"/>
          </a:xfrm>
          <a:prstGeom prst="rect">
            <a:avLst/>
          </a:prstGeom>
          <a:noFill/>
        </p:spPr>
        <p:txBody>
          <a:bodyPr wrap="square" lIns="0" rIns="0" tIns="0" bIns="0">
            <a:spAutoFit/>
          </a:bodyPr>
          <a:lstStyle/>
          <a:p>
            <a:pPr algn="l">
              <a:lnSpc>
                <a:spcPct val="110000"/>
              </a:lnSpc>
              <a:spcAft>
                <a:spcPts val="0"/>
              </a:spcAft>
            </a:pPr>
            <a:r>
              <a:rPr sz="1026" b="1" i="0">
                <a:solidFill>
                  <a:srgbClr val="171A21"/>
                </a:solidFill>
                <a:latin typeface="Verdana"/>
              </a:rPr>
              <a:t>Where the stakes justify it</a:t>
            </a:r>
          </a:p>
        </p:txBody>
      </p:sp>
      <p:sp>
        <p:nvSpPr>
          <p:cNvPr id="295" name="TextBox 294"/>
          <p:cNvSpPr txBox="1"/>
          <p:nvPr/>
        </p:nvSpPr>
        <p:spPr>
          <a:xfrm>
            <a:off x="26545031" y="16796341"/>
            <a:ext cx="5166360" cy="348881"/>
          </a:xfrm>
          <a:prstGeom prst="rect">
            <a:avLst/>
          </a:prstGeom>
          <a:noFill/>
        </p:spPr>
        <p:txBody>
          <a:bodyPr wrap="square" lIns="0" rIns="0" tIns="0" bIns="0">
            <a:spAutoFit/>
          </a:bodyPr>
          <a:lstStyle/>
          <a:p>
            <a:pPr algn="l">
              <a:lnSpc>
                <a:spcPct val="110000"/>
              </a:lnSpc>
              <a:spcAft>
                <a:spcPts val="0"/>
              </a:spcAft>
            </a:pPr>
            <a:r>
              <a:rPr sz="950" b="0" i="0">
                <a:solidFill>
                  <a:srgbClr val="4C5566"/>
                </a:solidFill>
                <a:latin typeface="Verdana"/>
              </a:rPr>
              <a:t>Add screen-level instrumentation where human behavior is the risk, or a reference model for high-stakes tools.</a:t>
            </a:r>
          </a:p>
        </p:txBody>
      </p:sp>
      <p:sp>
        <p:nvSpPr>
          <p:cNvPr id="296" name="TextBox 295"/>
          <p:cNvSpPr txBox="1"/>
          <p:nvPr/>
        </p:nvSpPr>
        <p:spPr>
          <a:xfrm>
            <a:off x="26545031" y="17218374"/>
            <a:ext cx="5166360" cy="164418"/>
          </a:xfrm>
          <a:prstGeom prst="rect">
            <a:avLst/>
          </a:prstGeom>
          <a:noFill/>
        </p:spPr>
        <p:txBody>
          <a:bodyPr wrap="square" lIns="0" rIns="0" tIns="0" bIns="0">
            <a:spAutoFit/>
          </a:bodyPr>
          <a:lstStyle/>
          <a:p>
            <a:pPr algn="l">
              <a:lnSpc>
                <a:spcPct val="108000"/>
              </a:lnSpc>
              <a:spcAft>
                <a:spcPts val="0"/>
              </a:spcAft>
            </a:pPr>
            <a:r>
              <a:rPr sz="912" b="1" i="0">
                <a:solidFill>
                  <a:srgbClr val="4C5566"/>
                </a:solidFill>
                <a:latin typeface="Verdana"/>
              </a:rPr>
              <a:t>Triggered by a named risk, never adopted by default.</a:t>
            </a:r>
          </a:p>
        </p:txBody>
      </p:sp>
      <p:sp>
        <p:nvSpPr>
          <p:cNvPr id="299" name="TextBox 298"/>
          <p:cNvSpPr txBox="1"/>
          <p:nvPr/>
        </p:nvSpPr>
        <p:spPr>
          <a:xfrm>
            <a:off x="22384511" y="17655877"/>
            <a:ext cx="9253728" cy="348881"/>
          </a:xfrm>
          <a:prstGeom prst="rect">
            <a:avLst/>
          </a:prstGeom>
          <a:noFill/>
        </p:spPr>
        <p:txBody>
          <a:bodyPr wrap="square" lIns="0" rIns="0" tIns="0" bIns="0">
            <a:spAutoFit/>
          </a:bodyPr>
          <a:lstStyle/>
          <a:p>
            <a:pPr algn="l">
              <a:lnSpc>
                <a:spcPct val="110000"/>
              </a:lnSpc>
              <a:spcAft>
                <a:spcPts val="0"/>
              </a:spcAft>
            </a:pPr>
            <a:r>
              <a:rPr sz="950" b="1" i="0">
                <a:solidFill>
                  <a:srgbClr val="171A21"/>
                </a:solidFill>
                <a:latin typeface="Verdana"/>
              </a:rPr>
              <a:t>The cheapest tier does real work.</a:t>
            </a:r>
            <a:r>
              <a:rPr sz="950" b="0" i="0">
                <a:solidFill>
                  <a:srgbClr val="171A21"/>
                </a:solidFill>
                <a:latin typeface="Verdana"/>
              </a:rPr>
              <a:t>  Sending known test cases through an AI tool is how clinical laboratories have been required to check instruments for decades. Nobody does it for algorithms.</a:t>
            </a:r>
          </a:p>
        </p:txBody>
      </p:sp>
      <p:sp>
        <p:nvSpPr>
          <p:cNvPr id="302" name="TextBox 301"/>
          <p:cNvSpPr txBox="1"/>
          <p:nvPr/>
        </p:nvSpPr>
        <p:spPr>
          <a:xfrm>
            <a:off x="22384511" y="18754566"/>
            <a:ext cx="9253728" cy="188268"/>
          </a:xfrm>
          <a:prstGeom prst="rect">
            <a:avLst/>
          </a:prstGeom>
          <a:noFill/>
        </p:spPr>
        <p:txBody>
          <a:bodyPr wrap="square" lIns="0" rIns="0" tIns="0" bIns="0">
            <a:spAutoFit/>
          </a:bodyPr>
          <a:lstStyle/>
          <a:p>
            <a:pPr algn="l">
              <a:lnSpc>
                <a:spcPct val="106000"/>
              </a:lnSpc>
              <a:spcAft>
                <a:spcPts val="0"/>
              </a:spcAft>
            </a:pPr>
            <a:r>
              <a:rPr sz="1064" b="1" i="0">
                <a:solidFill>
                  <a:srgbClr val="9AAEE0"/>
                </a:solidFill>
                <a:latin typeface="Verdana"/>
              </a:rPr>
              <a:t>CONCLUSION</a:t>
            </a:r>
          </a:p>
        </p:txBody>
      </p:sp>
      <p:sp>
        <p:nvSpPr>
          <p:cNvPr id="303" name="TextBox 302"/>
          <p:cNvSpPr txBox="1"/>
          <p:nvPr/>
        </p:nvSpPr>
        <p:spPr>
          <a:xfrm>
            <a:off x="22384511" y="19052563"/>
            <a:ext cx="9253728" cy="548060"/>
          </a:xfrm>
          <a:prstGeom prst="rect">
            <a:avLst/>
          </a:prstGeom>
          <a:noFill/>
        </p:spPr>
        <p:txBody>
          <a:bodyPr wrap="square" lIns="0" rIns="0" tIns="0" bIns="0">
            <a:spAutoFit/>
          </a:bodyPr>
          <a:lstStyle/>
          <a:p>
            <a:pPr algn="l">
              <a:lnSpc>
                <a:spcPct val="108000"/>
              </a:lnSpc>
              <a:spcAft>
                <a:spcPts val="0"/>
              </a:spcAft>
            </a:pPr>
            <a:r>
              <a:rPr sz="1520" b="1" i="0">
                <a:solidFill>
                  <a:srgbClr val="FFFFFF"/>
                </a:solidFill>
                <a:latin typeface="Verdana"/>
              </a:rPr>
              <a:t>Rules for AI multiplied in 2026. The plumbing that lets a hospital answer them does not exist.</a:t>
            </a:r>
          </a:p>
        </p:txBody>
      </p:sp>
      <p:sp>
        <p:nvSpPr>
          <p:cNvPr id="304" name="Rectangle 303"/>
          <p:cNvSpPr/>
          <p:nvPr/>
        </p:nvSpPr>
        <p:spPr>
          <a:xfrm>
            <a:off x="22384511" y="19746928"/>
            <a:ext cx="2011680" cy="27432"/>
          </a:xfrm>
          <a:prstGeom prst="rect">
            <a:avLst/>
          </a:prstGeom>
          <a:solidFill>
            <a:srgbClr val="2B47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5" name="TextBox 304"/>
          <p:cNvSpPr txBox="1"/>
          <p:nvPr/>
        </p:nvSpPr>
        <p:spPr>
          <a:xfrm>
            <a:off x="22384511" y="19911520"/>
            <a:ext cx="9253728" cy="376030"/>
          </a:xfrm>
          <a:prstGeom prst="rect">
            <a:avLst/>
          </a:prstGeom>
          <a:noFill/>
        </p:spPr>
        <p:txBody>
          <a:bodyPr wrap="square" lIns="0" rIns="0" tIns="0" bIns="0">
            <a:spAutoFit/>
          </a:bodyPr>
          <a:lstStyle/>
          <a:p>
            <a:pPr algn="l">
              <a:lnSpc>
                <a:spcPct val="114000"/>
              </a:lnSpc>
              <a:spcAft>
                <a:spcPts val="0"/>
              </a:spcAft>
            </a:pPr>
            <a:r>
              <a:rPr sz="950" b="1" i="0">
                <a:solidFill>
                  <a:srgbClr val="9AAEE0"/>
                </a:solidFill>
                <a:latin typeface="Verdana"/>
              </a:rPr>
              <a:t>HOW TO PROVE THIS WRONG.  </a:t>
            </a:r>
            <a:r>
              <a:rPr sz="988" b="0" i="0">
                <a:solidFill>
                  <a:srgbClr val="C6D3EC"/>
                </a:solidFill>
                <a:latin typeface="Verdana"/>
              </a:rPr>
              <a:t>Have one hospital start recording AI events at the cheapest tier. If it still cannot answer a single governance question it could not answer before, the argument fails.</a:t>
            </a:r>
          </a:p>
        </p:txBody>
      </p:sp>
      <p:sp>
        <p:nvSpPr>
          <p:cNvPr id="307" name="Rectangle 306"/>
          <p:cNvSpPr/>
          <p:nvPr/>
        </p:nvSpPr>
        <p:spPr>
          <a:xfrm>
            <a:off x="0" y="20830032"/>
            <a:ext cx="32918400" cy="27432"/>
          </a:xfrm>
          <a:prstGeom prst="rect">
            <a:avLst/>
          </a:prstGeom>
          <a:solidFill>
            <a:srgbClr val="D3D7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8" name="TextBox 307"/>
          <p:cNvSpPr txBox="1"/>
          <p:nvPr/>
        </p:nvSpPr>
        <p:spPr>
          <a:xfrm>
            <a:off x="914400" y="20939760"/>
            <a:ext cx="18288000" cy="844659"/>
          </a:xfrm>
          <a:prstGeom prst="rect">
            <a:avLst/>
          </a:prstGeom>
          <a:noFill/>
        </p:spPr>
        <p:txBody>
          <a:bodyPr wrap="square" lIns="0" rIns="0" tIns="0" bIns="0">
            <a:spAutoFit/>
          </a:bodyPr>
          <a:lstStyle/>
          <a:p>
            <a:pPr algn="l">
              <a:lnSpc>
                <a:spcPct val="110000"/>
              </a:lnSpc>
              <a:spcAft>
                <a:spcPts val="0"/>
              </a:spcAft>
            </a:pPr>
            <a:r>
              <a:rPr sz="1150" b="1" i="0">
                <a:solidFill>
                  <a:srgbClr val="4C5566"/>
                </a:solidFill>
                <a:latin typeface="Verdana"/>
              </a:rPr>
              <a:t>WHAT THIS DOES NOT DO.  </a:t>
            </a:r>
            <a:r>
              <a:rPr sz="1150" b="0" i="0">
                <a:solidFill>
                  <a:srgbClr val="4C5566"/>
                </a:solidFill>
                <a:latin typeface="Verdana"/>
              </a:rPr>
              <a:t>It cannot see inside a model — no weights, no training data, by design. It cannot prove cause: a change that correlates is not a change that was caused. It must fail open, so it can never block care and is not a security control.  </a:t>
            </a:r>
            <a:r>
              <a:rPr sz="1150" b="1" i="0">
                <a:solidFill>
                  <a:srgbClr val="4C5566"/>
                </a:solidFill>
                <a:latin typeface="Verdana"/>
              </a:rPr>
              <a:t>LIMITATIONS OF THIS REVIEW.  </a:t>
            </a:r>
            <a:r>
              <a:rPr sz="1150" b="0" i="0">
                <a:solidFill>
                  <a:srgbClr val="4C5566"/>
                </a:solidFill>
                <a:latin typeface="Verdana"/>
              </a:rPr>
              <a:t>No primary data were collected and no implementation was built or evaluated. Claims about cost, adoption and effectiveness are stated as testable hypotheses. Breach and certification cost figures derive from secondary reporting. Framework coverage was assessed against published documents, not implementation practice. U.S. scope only.</a:t>
            </a:r>
          </a:p>
        </p:txBody>
      </p:sp>
      <p:sp>
        <p:nvSpPr>
          <p:cNvPr id="309" name="TextBox 308"/>
          <p:cNvSpPr txBox="1"/>
          <p:nvPr/>
        </p:nvSpPr>
        <p:spPr>
          <a:xfrm>
            <a:off x="20116800" y="20939760"/>
            <a:ext cx="11887200" cy="605951"/>
          </a:xfrm>
          <a:prstGeom prst="rect">
            <a:avLst/>
          </a:prstGeom>
          <a:noFill/>
        </p:spPr>
        <p:txBody>
          <a:bodyPr wrap="square" lIns="0" rIns="0" tIns="0" bIns="0">
            <a:spAutoFit/>
          </a:bodyPr>
          <a:lstStyle/>
          <a:p>
            <a:pPr algn="r">
              <a:lnSpc>
                <a:spcPct val="110000"/>
              </a:lnSpc>
              <a:spcAft>
                <a:spcPts val="0"/>
              </a:spcAft>
            </a:pPr>
            <a:r>
              <a:rPr sz="1100" b="0" i="0">
                <a:solidFill>
                  <a:srgbClr val="4C5566"/>
                </a:solidFill>
                <a:latin typeface="Verdana"/>
              </a:rPr>
              <a:t>SOURCES: federal rulemaking dockets and executive actions (2024–26) · national healthcare breach and ransomware reporting (2026) · published certification cost data · AI certification program and control catalog documentation (2025–26) · peer-reviewed AI governance maturity literature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